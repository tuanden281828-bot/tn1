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B75CD-0247-4430-B19B-79C61E67E6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B42B1-62B1-40B7-9DAF-00866CA3C30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0"/>
            <a:ext cx="66675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602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E090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800"/>
            <a:ext cx="1905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1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8000" y="1206500"/>
            <a:ext cx="5334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✦  VÙNG ĐẤT THIÊNG LIÊNG MIỀN NAM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8000" y="1498600"/>
            <a:ext cx="546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Georgia" panose="02040502050405020303" pitchFamily="18" charset="0"/>
              </a:rPr>
              <a:t>Trải nghiệm</a:t>
            </a:r>
            <a:endParaRPr lang="en-US" sz="4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000" y="2362200"/>
            <a:ext cx="546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0B955"/>
                </a:solidFill>
                <a:latin typeface="Georgia" panose="02040502050405020303" pitchFamily="18" charset="0"/>
              </a:rPr>
              <a:t>Vùng Đất Tâm Linh</a:t>
            </a:r>
            <a:endParaRPr lang="en-US" sz="36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8000" y="3251200"/>
            <a:ext cx="5232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3B29B"/>
                </a:solidFill>
                <a:latin typeface="Calibri" panose="020F0502020204030204" pitchFamily="34" charset="0"/>
              </a:rPr>
              <a:t>Núi Bà Đen huyền bí, Tòa Thánh Cao Đài linh thiêng — hành trình chạm đến điều thiêng liêng tại Tây Ninh.</a:t>
            </a:r>
            <a:endParaRPr lang="en-US" sz="1100">
              <a:solidFill>
                <a:srgbClr val="C3B29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8000" y="43688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100">
                <a:solidFill>
                  <a:srgbClr val="F0B955"/>
                </a:solidFill>
                <a:latin typeface="Calibri" panose="020F0502020204030204" pitchFamily="34" charset="0"/>
              </a:rPr>
              <a:t>Hotline + Zalo: (+84) 0886 131 139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508000" y="4749800"/>
            <a:ext cx="2222500" cy="558800"/>
          </a:xfrm>
          <a:prstGeom prst="round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  Đặt Tour Ngay  ►</a:t>
            </a:r>
            <a:endParaRPr lang="en-US" sz="1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2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635000"/>
            <a:ext cx="381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TỔNG QUAN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863600"/>
            <a:ext cx="889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Georgia" panose="02040502050405020303" pitchFamily="18" charset="0"/>
              </a:rPr>
              <a:t>Vì sao chọn V Holiday Tour?</a:t>
            </a:r>
            <a:endParaRPr lang="en-US" sz="32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000" y="1600200"/>
            <a:ext cx="889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AA916E"/>
                </a:solidFill>
                <a:latin typeface="Calibri" panose="020F0502020204030204" pitchFamily="34" charset="0"/>
              </a:rPr>
              <a:t>12 năm đồng hành cùng hàng chục nghìn lữ khách trên khắp Việt Nam</a:t>
            </a:r>
            <a:endParaRPr lang="en-US" sz="1100">
              <a:solidFill>
                <a:srgbClr val="AA91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8000" y="2133600"/>
            <a:ext cx="2235200" cy="1549400"/>
          </a:xfrm>
          <a:prstGeom prst="roundRect">
            <a:avLst/>
          </a:prstGeom>
          <a:solidFill>
            <a:srgbClr val="32230E"/>
          </a:solidFill>
          <a:ln w="12700" cap="flat" cmpd="sng" algn="ctr">
            <a:solidFill>
              <a:srgbClr val="64461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35000" y="2260600"/>
            <a:ext cx="19812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0B955"/>
                </a:solidFill>
                <a:latin typeface="Georgia" panose="02040502050405020303" pitchFamily="18" charset="0"/>
              </a:rPr>
              <a:t>4.8 ★</a:t>
            </a:r>
            <a:endParaRPr lang="en-US" sz="26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000" y="2946400"/>
            <a:ext cx="198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AF9673"/>
                </a:solidFill>
                <a:latin typeface="Calibri" panose="020F0502020204030204" pitchFamily="34" charset="0"/>
              </a:rPr>
              <a:t>Đánh Giá Trung Bình</a:t>
            </a:r>
            <a:endParaRPr lang="en-US" sz="1000">
              <a:solidFill>
                <a:srgbClr val="AF967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3048000" y="2133600"/>
            <a:ext cx="2235200" cy="1549400"/>
          </a:xfrm>
          <a:prstGeom prst="roundRect">
            <a:avLst/>
          </a:prstGeom>
          <a:solidFill>
            <a:srgbClr val="32230E"/>
          </a:solidFill>
          <a:ln w="12700" cap="flat" cmpd="sng" algn="ctr">
            <a:solidFill>
              <a:srgbClr val="64461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75000" y="2260600"/>
            <a:ext cx="19812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0B955"/>
                </a:solidFill>
                <a:latin typeface="Georgia" panose="02040502050405020303" pitchFamily="18" charset="0"/>
              </a:rPr>
              <a:t>50K+</a:t>
            </a:r>
            <a:endParaRPr lang="en-US" sz="26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75000" y="2946400"/>
            <a:ext cx="198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AF9673"/>
                </a:solidFill>
                <a:latin typeface="Calibri" panose="020F0502020204030204" pitchFamily="34" charset="0"/>
              </a:rPr>
              <a:t>Lữ Khách Hài Lòng</a:t>
            </a:r>
            <a:endParaRPr lang="en-US" sz="1000">
              <a:solidFill>
                <a:srgbClr val="AF967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5588000" y="2133600"/>
            <a:ext cx="2235200" cy="1549400"/>
          </a:xfrm>
          <a:prstGeom prst="roundRect">
            <a:avLst/>
          </a:prstGeom>
          <a:solidFill>
            <a:srgbClr val="32230E"/>
          </a:solidFill>
          <a:ln w="12700" cap="flat" cmpd="sng" algn="ctr">
            <a:solidFill>
              <a:srgbClr val="64461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715000" y="2260600"/>
            <a:ext cx="19812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0B955"/>
                </a:solidFill>
                <a:latin typeface="Georgia" panose="02040502050405020303" pitchFamily="18" charset="0"/>
              </a:rPr>
              <a:t>12 Năm</a:t>
            </a:r>
            <a:endParaRPr lang="en-US" sz="26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5000" y="2946400"/>
            <a:ext cx="198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AF9673"/>
                </a:solidFill>
                <a:latin typeface="Calibri" panose="020F0502020204030204" pitchFamily="34" charset="0"/>
              </a:rPr>
              <a:t>Kinh Nghiệm</a:t>
            </a:r>
            <a:endParaRPr lang="en-US" sz="1000">
              <a:solidFill>
                <a:srgbClr val="AF9673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80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✅  Xác nhận trong 2 giờ</a:t>
            </a:r>
            <a:endParaRPr lang="en-US" sz="1000">
              <a:solidFill>
                <a:srgbClr val="BEA582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036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🔄  Hủy miễn phí 48h</a:t>
            </a:r>
            <a:endParaRPr lang="en-US" sz="1000">
              <a:solidFill>
                <a:srgbClr val="BEA582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992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🛡️  Bảo hiểm chuyến đi</a:t>
            </a:r>
            <a:endParaRPr lang="en-US" sz="1000">
              <a:solidFill>
                <a:srgbClr val="BEA582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94800" y="4165600"/>
            <a:ext cx="279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BEA582"/>
                </a:solidFill>
                <a:latin typeface="Calibri" panose="020F0502020204030204" pitchFamily="34" charset="0"/>
              </a:rPr>
              <a:t>📞  Hỗ trợ 24/7</a:t>
            </a:r>
            <a:endParaRPr lang="en-US" sz="1000">
              <a:solidFill>
                <a:srgbClr val="BEA582"/>
              </a:solidFill>
              <a:latin typeface="Calibri" panose="020F0502020204030204" pitchFamily="34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508000" y="4622800"/>
            <a:ext cx="111760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8000" y="4749800"/>
            <a:ext cx="1117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8C6941"/>
                </a:solidFill>
                <a:latin typeface="Calibri" panose="020F0502020204030204" pitchFamily="34" charset="0"/>
              </a:rPr>
              <a:t>V Holiday Tour  ·  vholidaytour.com  ·  (+84) 0886 131 139</a:t>
            </a:r>
            <a:endParaRPr lang="en-US" sz="900">
              <a:solidFill>
                <a:srgbClr val="8C694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3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4064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KHÁM PHÁ TÂY NINH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35000"/>
            <a:ext cx="889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Những điểm đến không thể bỏ qua</a:t>
            </a:r>
            <a:endParaRPr lang="en-US" sz="2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71600"/>
            <a:ext cx="4572000" cy="2667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3479800"/>
            <a:ext cx="45720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6900" y="3505200"/>
            <a:ext cx="43942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Tây Ninh · Điểm Chính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6900" y="3683000"/>
            <a:ext cx="4394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Núi Bà Đen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1371600"/>
            <a:ext cx="2476500" cy="127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207000" y="2082800"/>
            <a:ext cx="2476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295900" y="2108200"/>
            <a:ext cx="2298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Di Sản Tâm Linh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95900" y="2286000"/>
            <a:ext cx="2298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Tòa Thánh Cao Đài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10500" y="1371600"/>
            <a:ext cx="3873500" cy="12700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10500" y="2082800"/>
            <a:ext cx="3873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899400" y="2108200"/>
            <a:ext cx="3695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Tây Ninh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99400" y="2286000"/>
            <a:ext cx="3695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Hồ Dầu Tiếng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07000" y="2768600"/>
            <a:ext cx="2476500" cy="12700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07000" y="3479800"/>
            <a:ext cx="2476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295900" y="3505200"/>
            <a:ext cx="2298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Thiên Nhiên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5900" y="3683000"/>
            <a:ext cx="2298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300" b="1">
                <a:solidFill>
                  <a:srgbClr val="FFFFFF"/>
                </a:solidFill>
              </a:rPr>
              <a:t>Vườn QG Lò Gò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10500" y="2768600"/>
            <a:ext cx="3873500" cy="12700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810500" y="3479800"/>
            <a:ext cx="3873500" cy="558800"/>
          </a:xfrm>
          <a:prstGeom prst="rect">
            <a:avLst/>
          </a:prstGeom>
          <a:solidFill>
            <a:srgbClr val="0E0905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899400" y="3505200"/>
            <a:ext cx="36957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Đặc Sản Tây Ninh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99400" y="3683000"/>
            <a:ext cx="36957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Ẩm Thực Trảng Bàng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4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4064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HÀNH TRÌNH GỢI Ý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35000"/>
            <a:ext cx="762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Một ngày trọn vẹn tại Tây Ninh</a:t>
            </a:r>
            <a:endParaRPr lang="en-US" sz="2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524000" y="2387600"/>
            <a:ext cx="9144000" cy="0"/>
          </a:xfrm>
          <a:prstGeom prst="line">
            <a:avLst/>
          </a:prstGeom>
          <a:ln w="12700">
            <a:solidFill>
              <a:srgbClr val="C98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081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🌄</a:t>
            </a:r>
            <a:endParaRPr lang="en-US" sz="1400"/>
          </a:p>
        </p:txBody>
      </p:sp>
      <p:sp>
        <p:nvSpPr>
          <p:cNvPr id="10" name="TextBox 9"/>
          <p:cNvSpPr txBox="1"/>
          <p:nvPr/>
        </p:nvSpPr>
        <p:spPr>
          <a:xfrm>
            <a:off x="5588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05:30–08:00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88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Xuất Phát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88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Xe đón tại nhà, di chuyển đến Tây Ninh buổi sáng sớm bình yên.</a:t>
            </a:r>
            <a:endParaRPr lang="en-US" sz="900">
              <a:solidFill>
                <a:srgbClr val="AA9473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3655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⛰️</a:t>
            </a:r>
            <a:endParaRPr lang="en-US" sz="1400"/>
          </a:p>
        </p:txBody>
      </p:sp>
      <p:sp>
        <p:nvSpPr>
          <p:cNvPr id="14" name="TextBox 13"/>
          <p:cNvSpPr txBox="1"/>
          <p:nvPr/>
        </p:nvSpPr>
        <p:spPr>
          <a:xfrm>
            <a:off x="26162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08:00–12:00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162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Núi Bà Đen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162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Cáp treo lên đỉnh, thăm Điện Bà, ngắm toàn cảnh từ 986m.</a:t>
            </a:r>
            <a:endParaRPr lang="en-US" sz="900">
              <a:solidFill>
                <a:srgbClr val="AA947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229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🍜</a:t>
            </a:r>
            <a:endParaRPr lang="en-US" sz="1400"/>
          </a:p>
        </p:txBody>
      </p:sp>
      <p:sp>
        <p:nvSpPr>
          <p:cNvPr id="18" name="TextBox 17"/>
          <p:cNvSpPr txBox="1"/>
          <p:nvPr/>
        </p:nvSpPr>
        <p:spPr>
          <a:xfrm>
            <a:off x="46736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12:00–13:30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736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Ẩm Thực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36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900">
                <a:solidFill>
                  <a:srgbClr val="AA9473"/>
                </a:solidFill>
                <a:latin typeface="Calibri" panose="020F0502020204030204" pitchFamily="34" charset="0"/>
              </a:rPr>
              <a:t>Bánh canh, bánh tráng phơi sương — đặc sản nức tiếng.</a:t>
            </a:r>
            <a:endParaRPr lang="en-US" sz="900">
              <a:solidFill>
                <a:srgbClr val="AA9473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4803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🏛️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7310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14:00–16:30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10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Tòa Thánh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310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Kiến trúc độc đáo, chứng kiến lễ cúng buổi chiều.</a:t>
            </a:r>
            <a:endParaRPr lang="en-US" sz="900">
              <a:solidFill>
                <a:srgbClr val="AA9473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537700" y="2159000"/>
            <a:ext cx="457200" cy="457200"/>
          </a:xfrm>
          <a:prstGeom prst="ellipse">
            <a:avLst/>
          </a:prstGeom>
          <a:solidFill>
            <a:srgbClr val="3A2610"/>
          </a:solidFill>
          <a:ln w="25400">
            <a:solidFill>
              <a:srgbClr val="C98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🌅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8788400" y="2717800"/>
            <a:ext cx="1955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17:00–20:00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88400" y="29464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Về TP.HCM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88400" y="32766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AA9473"/>
                </a:solidFill>
                <a:latin typeface="Calibri" panose="020F0502020204030204" pitchFamily="34" charset="0"/>
              </a:rPr>
              <a:t>Di chuyển về thành phố, mang theo kỷ niệm đẹp.</a:t>
            </a:r>
            <a:endParaRPr lang="en-US" sz="900">
              <a:solidFill>
                <a:srgbClr val="AA9473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5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4064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DỊCH VỤ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35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Trải nghiệm khác biệt</a:t>
            </a:r>
            <a:endParaRPr lang="en-US" sz="2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508000" y="13970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733800" y="14986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01</a:t>
            </a:r>
            <a:endParaRPr lang="en-US">
              <a:solidFill>
                <a:srgbClr val="3C2A12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" y="19050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Lịch Trình Riêng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0400" y="22352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A58C69"/>
                </a:solidFill>
                <a:latin typeface="Calibri" panose="020F0502020204030204" pitchFamily="34" charset="0"/>
              </a:rPr>
              <a:t>Cá nhân hóa toàn bộ — thời gian, điểm dừng, phong cách theo ý bạn.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4343400" y="13970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69200" y="14986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02</a:t>
            </a:r>
            <a:endParaRPr lang="en-US">
              <a:solidFill>
                <a:srgbClr val="3C2A12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800" y="19050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Trải Nghiệm Độc Quyền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95800" y="22352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Thiền sáng sớm tại chân núi, nghi lễ cầu an riêng tư.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8178800" y="13970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404600" y="14986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03</a:t>
            </a:r>
            <a:endParaRPr lang="en-US">
              <a:solidFill>
                <a:srgbClr val="3C2A12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1200" y="19050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Trekking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1200" y="22352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Chinh phục Núi Bà Đen, khám phá Vườn QG qua đường rừng nguyên sinh.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508000" y="28702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733800" y="29718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04</a:t>
            </a:r>
            <a:endParaRPr lang="en-US">
              <a:solidFill>
                <a:srgbClr val="3C2A12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0400" y="33782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Photo Tour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0400" y="37084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Săn bình minh trên đỉnh với hướng dẫn nhiếp ảnh chuyên nghiệp.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4343400" y="28702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569200" y="29718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05</a:t>
            </a:r>
            <a:endParaRPr lang="en-US">
              <a:solidFill>
                <a:srgbClr val="3C2A12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95800" y="33782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Food &amp; Culture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95800" y="37084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A58C69"/>
                </a:solidFill>
                <a:latin typeface="Calibri" panose="020F0502020204030204" pitchFamily="34" charset="0"/>
              </a:rPr>
              <a:t>Bánh canh Trảng Bàng, muối ớt Tây Ninh — hành trình ẩm thực.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8178800" y="2870200"/>
            <a:ext cx="3683000" cy="1371600"/>
          </a:xfrm>
          <a:prstGeom prst="roundRect">
            <a:avLst/>
          </a:prstGeom>
          <a:solidFill>
            <a:srgbClr val="281C0C"/>
          </a:solidFill>
          <a:ln w="12700" cap="flat" cmpd="sng" algn="ctr">
            <a:solidFill>
              <a:srgbClr val="50371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1404600" y="29718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>
                <a:solidFill>
                  <a:srgbClr val="3C2A12"/>
                </a:solidFill>
                <a:latin typeface="Georgia" panose="02040502050405020303" pitchFamily="18" charset="0"/>
              </a:rPr>
              <a:t>06</a:t>
            </a:r>
            <a:endParaRPr lang="en-US">
              <a:solidFill>
                <a:srgbClr val="3C2A12"/>
              </a:solidFill>
              <a:latin typeface="Georgia" panose="02040502050405020303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1200" y="3378200"/>
            <a:ext cx="3378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Off The Beaten Path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1200" y="3708400"/>
            <a:ext cx="337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A58C69"/>
                </a:solidFill>
                <a:latin typeface="Calibri" panose="020F0502020204030204" pitchFamily="34" charset="0"/>
              </a:rPr>
              <a:t>Chùa ẩn trong rừng, suối hoang sơ chỉ người địa phương mới biết.</a:t>
            </a:r>
            <a:endParaRPr lang="en-US" sz="900">
              <a:solidFill>
                <a:srgbClr val="A58C6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6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406400"/>
            <a:ext cx="381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F0B955"/>
                </a:solidFill>
                <a:latin typeface="Calibri" panose="020F0502020204030204" pitchFamily="34" charset="0"/>
              </a:rPr>
              <a:t>THƯ VIỆN ẢNH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35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Nhìn từ góc nhìn khác</a:t>
            </a:r>
            <a:endParaRPr lang="en-US" sz="2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71600"/>
            <a:ext cx="2857500" cy="4953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5791200"/>
            <a:ext cx="28575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84200" y="5816600"/>
            <a:ext cx="27051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Núi Bà Đen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4200" y="5994400"/>
            <a:ext cx="27051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100" b="1">
                <a:solidFill>
                  <a:srgbClr val="FFFFFF"/>
                </a:solidFill>
              </a:rPr>
              <a:t>Tượng Phật Bà Quan Âm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1371600"/>
            <a:ext cx="2413000" cy="495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67100" y="5791200"/>
            <a:ext cx="24130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543300" y="5816600"/>
            <a:ext cx="22606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Núi Bà Đen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43300" y="5994400"/>
            <a:ext cx="22606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100" b="1">
                <a:solidFill>
                  <a:srgbClr val="FFFFFF"/>
                </a:solidFill>
              </a:rPr>
              <a:t>Tượng Di Lặc Bồ Tát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81700" y="1371600"/>
            <a:ext cx="1968500" cy="23876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981700" y="3225800"/>
            <a:ext cx="19685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057900" y="3251200"/>
            <a:ext cx="18161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Tòa Thánh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57900" y="3429000"/>
            <a:ext cx="18161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Cao Đài Thánh Địa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1800" y="1371600"/>
            <a:ext cx="1778000" cy="23876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051800" y="3225800"/>
            <a:ext cx="17780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00" y="3251200"/>
            <a:ext cx="16256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Tây Ninh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28000" y="3429000"/>
            <a:ext cx="16256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Hồ Dầu Tiếng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931400" y="1371600"/>
            <a:ext cx="1752600" cy="23876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931400" y="3225800"/>
            <a:ext cx="17526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0007600" y="3251200"/>
            <a:ext cx="16002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700">
                <a:solidFill>
                  <a:srgbClr val="F0B955"/>
                </a:solidFill>
                <a:latin typeface="Calibri" panose="020F0502020204030204" pitchFamily="34" charset="0"/>
              </a:rPr>
              <a:t>Vườn QG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07600" y="3429000"/>
            <a:ext cx="1600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Rừng Lò Gò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81700" y="3860800"/>
            <a:ext cx="5702300" cy="2463800"/>
          </a:xfrm>
          <a:prstGeom prst="rect">
            <a:avLst/>
          </a:prstGeom>
          <a:solidFill>
            <a:srgbClr val="3A261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5981700" y="5791200"/>
            <a:ext cx="5702300" cy="533400"/>
          </a:xfrm>
          <a:prstGeom prst="rect">
            <a:avLst/>
          </a:prstGeom>
          <a:solidFill>
            <a:srgbClr val="0E0905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057900" y="5816600"/>
            <a:ext cx="55499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Ẩm Thực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57900" y="5994400"/>
            <a:ext cx="55499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Georgia" panose="02040502050405020303" pitchFamily="18" charset="0"/>
              </a:rPr>
              <a:t>Bánh Canh Trảng Bàng</a:t>
            </a:r>
            <a:endParaRPr lang="en-US" sz="11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8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967850"/>
                </a:solidFill>
                <a:latin typeface="Calibri" panose="020F0502020204030204" pitchFamily="34" charset="0"/>
              </a:rPr>
              <a:t>7 / 10</a:t>
            </a:r>
            <a:endParaRPr lang="en-US" sz="800">
              <a:solidFill>
                <a:srgbClr val="96785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5588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C9853A"/>
                </a:solidFill>
                <a:latin typeface="Calibri" panose="020F0502020204030204" pitchFamily="34" charset="0"/>
              </a:rPr>
              <a:t>TRIẾT LÝ</a:t>
            </a:r>
            <a:endParaRPr lang="en-US" sz="800">
              <a:solidFill>
                <a:srgbClr val="C9853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7874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>
                <a:solidFill>
                  <a:srgbClr val="2C2015"/>
                </a:solidFill>
                <a:latin typeface="Georgia" panose="02040502050405020303" pitchFamily="18" charset="0"/>
              </a:rPr>
              <a:t>Chúng tôi tin vào sức mạnh của sự tĩnh lặng</a:t>
            </a:r>
            <a:endParaRPr lang="en-US" sz="2800">
              <a:solidFill>
                <a:srgbClr val="2C2015"/>
              </a:solidFill>
              <a:latin typeface="Georgia" panose="02040502050405020303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26000" y="1473200"/>
            <a:ext cx="2540000" cy="0"/>
          </a:xfrm>
          <a:prstGeom prst="line">
            <a:avLst/>
          </a:prstGeom>
          <a:ln w="12700">
            <a:solidFill>
              <a:srgbClr val="C98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16000" y="16256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1700">
                <a:solidFill>
                  <a:srgbClr val="2C2015"/>
                </a:solidFill>
              </a:rPr>
              <a:t>"Không phải nơi nào cũng có thể chữa lành — nhưng Tây Ninh có.
Giữa làn khói nhang và tiếng chuông ngân, bạn sẽ tìm lại chính mình."</a:t>
            </a:r>
            <a:endParaRPr lang="en-US" sz="1700">
              <a:solidFill>
                <a:srgbClr val="2C2015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6000" y="3073400"/>
            <a:ext cx="1016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C9853A"/>
                </a:solidFill>
                <a:latin typeface="Calibri" panose="020F0502020204030204" pitchFamily="34" charset="0"/>
              </a:rPr>
              <a:t>— V Holiday Tour, từ 2012</a:t>
            </a:r>
            <a:endParaRPr lang="en-US" sz="1100">
              <a:solidFill>
                <a:srgbClr val="C9853A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8255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27100" y="3759200"/>
            <a:ext cx="2362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🌿  </a:t>
            </a:r>
            <a:r>
              <a:rPr lang="vi-VN" sz="900">
                <a:solidFill>
                  <a:srgbClr val="503719"/>
                </a:solidFill>
                <a:latin typeface="Calibri" panose="020F0502020204030204" pitchFamily="34" charset="0"/>
              </a:rPr>
              <a:t>Tôn trọng không gian thiêng liêng và văn hóa địa phương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35433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644900" y="3759200"/>
            <a:ext cx="2362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🤝  Kết nối chân thực với cộng đồng Cao Đài bản địa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2611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62700" y="3759200"/>
            <a:ext cx="2362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💡  </a:t>
            </a:r>
            <a:r>
              <a:rPr lang="vi-VN" sz="900">
                <a:solidFill>
                  <a:srgbClr val="503719"/>
                </a:solidFill>
                <a:latin typeface="Calibri" panose="020F0502020204030204" pitchFamily="34" charset="0"/>
              </a:rPr>
              <a:t>Hướng dẫn viên am hiểu lịch sử và tâm linh Tây Ninh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8978900" y="3683000"/>
            <a:ext cx="2540000" cy="1219200"/>
          </a:xfrm>
          <a:prstGeom prst="roundRect">
            <a:avLst/>
          </a:prstGeom>
          <a:solidFill>
            <a:srgbClr val="C9853A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080500" y="3759200"/>
            <a:ext cx="2362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503719"/>
                </a:solidFill>
                <a:latin typeface="Calibri" panose="020F0502020204030204" pitchFamily="34" charset="0"/>
              </a:rPr>
              <a:t>🛡️  </a:t>
            </a:r>
            <a:r>
              <a:rPr lang="vi-VN" sz="900">
                <a:solidFill>
                  <a:srgbClr val="503719"/>
                </a:solidFill>
                <a:latin typeface="Calibri" panose="020F0502020204030204" pitchFamily="34" charset="0"/>
              </a:rPr>
              <a:t>Hỗ trợ 24/7, an toàn là ưu tiên hàng đầu</a:t>
            </a:r>
            <a:endParaRPr lang="en-US" sz="900">
              <a:solidFill>
                <a:srgbClr val="50371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8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4064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CẢM NHẬN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35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Lữ khách nói gì</a:t>
            </a:r>
            <a:endParaRPr lang="en-US" sz="2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508000" y="13970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35000" y="1498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000" y="1752600"/>
            <a:ext cx="19304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CDBCA8"/>
                </a:solidFill>
              </a:rPr>
              <a:t>"Bình minh trên đỉnh núi, tiếng chuông chùa vang vọng — tôi chưa bao giờ cảm thấy bình yên đến vậy."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35000" y="27940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5000" y="2844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Nguyễn Thị Lan Anh</a:t>
            </a:r>
            <a:endParaRPr lang="en-US" sz="1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000" y="30734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91734B"/>
                </a:solidFill>
                <a:latin typeface="Calibri" panose="020F0502020204030204" pitchFamily="34" charset="0"/>
              </a:rPr>
              <a:t>TP. Hồ Chí Minh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2806700" y="13970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933700" y="1498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33700" y="17526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CDBCA8"/>
                </a:solidFill>
              </a:rPr>
              <a:t>"Hướng dẫn viên rất am hiểu về lịch sử Cao Đài. Ở lại xem lễ cúng chiều — không thể rời đi!"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2933700" y="27940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33700" y="2844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Trần Văn Minh</a:t>
            </a:r>
            <a:endParaRPr lang="en-US" sz="1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700" y="30734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91734B"/>
                </a:solidFill>
                <a:latin typeface="Calibri" panose="020F0502020204030204" pitchFamily="34" charset="0"/>
              </a:rPr>
              <a:t>Hà Nội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5105400" y="13970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232400" y="1498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32400" y="17526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DBCA8"/>
                </a:solidFill>
                <a:latin typeface="Georgia" panose="02040502050405020303" pitchFamily="18" charset="0"/>
              </a:rPr>
              <a:t>"Bánh canh Trảng Bàng ngon nhất từng ăn! Lịch trình rất hợp lý, không vội vàng."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5232400" y="27940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32400" y="2844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000" b="1">
                <a:solidFill>
                  <a:srgbClr val="FFFFFF"/>
                </a:solidFill>
                <a:latin typeface="Calibri" panose="020F0502020204030204" pitchFamily="34" charset="0"/>
              </a:rPr>
              <a:t>Lê Thị Hương Giang</a:t>
            </a:r>
            <a:endParaRPr lang="en-US" sz="1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2400" y="30734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91734B"/>
                </a:solidFill>
                <a:latin typeface="Calibri" panose="020F0502020204030204" pitchFamily="34" charset="0"/>
              </a:rPr>
              <a:t>Đà Nẵng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1612900" y="33782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739900" y="34798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39900" y="37338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CDBCA8"/>
                </a:solidFill>
              </a:rPr>
              <a:t>"Đã đi Tây Ninh nhiều lần nhưng đây là lần đầu tôi thực sự hiểu về vùng đất này."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1739900" y="47752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39900" y="48260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Phạm Quốc Huy</a:t>
            </a:r>
            <a:endParaRPr lang="en-US" sz="1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39900" y="50546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91734B"/>
                </a:solidFill>
                <a:latin typeface="Calibri" panose="020F0502020204030204" pitchFamily="34" charset="0"/>
              </a:rPr>
              <a:t>Bình Dương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3911600" y="3378200"/>
            <a:ext cx="2184400" cy="1879600"/>
          </a:xfrm>
          <a:prstGeom prst="roundRect">
            <a:avLst/>
          </a:prstGeom>
          <a:solidFill>
            <a:srgbClr val="30210E"/>
          </a:solidFill>
          <a:ln w="12700" cap="flat" cmpd="sng" algn="ctr">
            <a:solidFill>
              <a:srgbClr val="5A3E1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038600" y="34798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0B955"/>
                </a:solidFill>
                <a:latin typeface="Calibri" panose="020F0502020204030204" pitchFamily="34" charset="0"/>
              </a:rPr>
              <a:t>★★★★★</a:t>
            </a:r>
            <a:endParaRPr lang="en-US" sz="11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38600" y="3733800"/>
            <a:ext cx="19304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DBCA8"/>
                </a:solidFill>
                <a:latin typeface="Georgia" panose="02040502050405020303" pitchFamily="18" charset="0"/>
              </a:rPr>
              <a:t>"Tour Trekking Núi Bà Đen hoàn toàn xứng đáng! Nhất định sẽ quay lại."</a:t>
            </a:r>
            <a:endParaRPr lang="en-US" sz="900">
              <a:solidFill>
                <a:srgbClr val="CDBCA8"/>
              </a:solidFill>
              <a:latin typeface="Georgia" panose="02040502050405020303" pitchFamily="18" charset="0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4038600" y="4775200"/>
            <a:ext cx="1930400" cy="0"/>
          </a:xfrm>
          <a:prstGeom prst="line">
            <a:avLst/>
          </a:prstGeom>
          <a:ln w="12700">
            <a:solidFill>
              <a:srgbClr val="503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38600" y="48260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Võ Thị Thanh Mai</a:t>
            </a:r>
            <a:endParaRPr lang="en-US" sz="1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038600" y="5054600"/>
            <a:ext cx="19304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00">
                <a:solidFill>
                  <a:srgbClr val="91734B"/>
                </a:solidFill>
                <a:latin typeface="Calibri" panose="020F0502020204030204" pitchFamily="34" charset="0"/>
              </a:rPr>
              <a:t>Cần Thơ</a:t>
            </a:r>
            <a:endParaRPr lang="en-US" sz="900">
              <a:solidFill>
                <a:srgbClr val="91734B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602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905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C8A56E"/>
                </a:solidFill>
                <a:latin typeface="Calibri" panose="020F0502020204030204" pitchFamily="34" charset="0"/>
              </a:rPr>
              <a:t>9 / 10</a:t>
            </a:r>
            <a:endParaRPr lang="en-US" sz="800">
              <a:solidFill>
                <a:srgbClr val="C8A5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000" y="4064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0B955"/>
                </a:solidFill>
                <a:latin typeface="Calibri" panose="020F0502020204030204" pitchFamily="34" charset="0"/>
              </a:rPr>
              <a:t>ĐẶT TOUR</a:t>
            </a:r>
            <a:endParaRPr lang="en-US" sz="8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8000" y="635000"/>
            <a:ext cx="762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 panose="02040502050405020303" pitchFamily="18" charset="0"/>
              </a:rPr>
              <a:t>Chọn hành trình của bạn</a:t>
            </a:r>
            <a:endParaRPr lang="en-US" sz="28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508000" y="13970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14732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Bán Chạy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1701800"/>
            <a:ext cx="1549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Núi Bà Đen 1 Ngày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20066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9B825F"/>
                </a:solidFill>
                <a:latin typeface="Calibri" panose="020F0502020204030204" pitchFamily="34" charset="0"/>
              </a:rPr>
              <a:t>1 ngày · ≤ 20 người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2352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650.000đ</a:t>
            </a:r>
            <a:endParaRPr lang="en-US" sz="13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2387600" y="13970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89200" y="14732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Trọn Gói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89200" y="17018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Tây Ninh 2N1Đ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9200" y="20066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B825F"/>
                </a:solidFill>
                <a:latin typeface="Calibri" panose="020F0502020204030204" pitchFamily="34" charset="0"/>
              </a:rPr>
              <a:t>2 ngày 1 đêm · ≤ 20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9200" y="22352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1.200.000đ</a:t>
            </a:r>
            <a:endParaRPr lang="en-US" sz="13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4267200" y="13970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368800" y="14732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Trekking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68800" y="17018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200" b="1">
                <a:solidFill>
                  <a:srgbClr val="FFFFFF"/>
                </a:solidFill>
              </a:rPr>
              <a:t>Vườn Quốc Gia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8800" y="20066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9B825F"/>
                </a:solidFill>
                <a:latin typeface="Calibri" panose="020F0502020204030204" pitchFamily="34" charset="0"/>
              </a:rPr>
              <a:t>1 ngày · ≤ 12 người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68800" y="22352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750.000đ</a:t>
            </a:r>
            <a:endParaRPr lang="en-US" sz="13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508000" y="26162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09600" y="26924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Văn Hóa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9600" y="2921000"/>
            <a:ext cx="1549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Tòa Thánh Cao Đài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9600" y="32258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B825F"/>
                </a:solidFill>
                <a:latin typeface="Calibri" panose="020F0502020204030204" pitchFamily="34" charset="0"/>
              </a:rPr>
              <a:t>Nửa ngày · ≤ 15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9600" y="34544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450.000đ</a:t>
            </a:r>
            <a:endParaRPr lang="en-US" sz="13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2387600" y="26162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489200" y="26924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Ẩm Thực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89200" y="29210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Food &amp; Culture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89200" y="32258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B825F"/>
                </a:solidFill>
                <a:latin typeface="Calibri" panose="020F0502020204030204" pitchFamily="34" charset="0"/>
              </a:rPr>
              <a:t>Nửa ngày · ≤ 15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89200" y="34544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550.000đ</a:t>
            </a:r>
            <a:endParaRPr lang="en-US" sz="13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4267200" y="2616200"/>
            <a:ext cx="1752600" cy="1117600"/>
          </a:xfrm>
          <a:prstGeom prst="roundRect">
            <a:avLst/>
          </a:prstGeom>
          <a:solidFill>
            <a:srgbClr val="140D05">
              <a:alpha val="80000"/>
            </a:srgbClr>
          </a:solidFill>
          <a:ln w="12700" cap="flat" cmpd="sng" algn="ctr">
            <a:solidFill>
              <a:srgbClr val="64461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368800" y="2692400"/>
            <a:ext cx="15494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700">
                <a:solidFill>
                  <a:srgbClr val="F0B955"/>
                </a:solidFill>
                <a:latin typeface="Calibri" panose="020F0502020204030204" pitchFamily="34" charset="0"/>
              </a:rPr>
              <a:t>Photo Tour</a:t>
            </a:r>
            <a:endParaRPr lang="en-US" sz="700">
              <a:solidFill>
                <a:srgbClr val="F0B955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68800" y="2921000"/>
            <a:ext cx="154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Săn Bình Minh</a:t>
            </a:r>
            <a:endParaRPr lang="en-US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68800" y="3225800"/>
            <a:ext cx="1549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800">
                <a:solidFill>
                  <a:srgbClr val="9B825F"/>
                </a:solidFill>
                <a:latin typeface="Calibri" panose="020F0502020204030204" pitchFamily="34" charset="0"/>
              </a:rPr>
              <a:t>1 ngày · ≤ 8 người</a:t>
            </a:r>
            <a:endParaRPr lang="en-US" sz="800">
              <a:solidFill>
                <a:srgbClr val="9B825F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68800" y="3454400"/>
            <a:ext cx="15494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0B955"/>
                </a:solidFill>
                <a:latin typeface="Georgia" panose="02040502050405020303" pitchFamily="18" charset="0"/>
              </a:rPr>
              <a:t>800.000đ</a:t>
            </a:r>
            <a:endParaRPr lang="en-US" sz="1300" b="1">
              <a:solidFill>
                <a:srgbClr val="F0B955"/>
              </a:solidFill>
              <a:latin typeface="Georgia" panose="02040502050405020303" pitchFamily="18" charset="0"/>
            </a:endParaRPr>
          </a:p>
        </p:txBody>
      </p:sp>
      <p:sp>
        <p:nvSpPr>
          <p:cNvPr id="41" name="Rectangle: Rounded Corners 40"/>
          <p:cNvSpPr/>
          <p:nvPr/>
        </p:nvSpPr>
        <p:spPr>
          <a:xfrm>
            <a:off x="6197600" y="1397000"/>
            <a:ext cx="5588000" cy="1117600"/>
          </a:xfrm>
          <a:prstGeom prst="roundRect">
            <a:avLst/>
          </a:prstGeom>
          <a:solidFill>
            <a:srgbClr val="C985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📞  </a:t>
            </a:r>
            <a:r>
              <a:rPr lang="vi-VN" sz="1300" b="1">
                <a:solidFill>
                  <a:srgbClr val="FFFFFF"/>
                </a:solidFill>
              </a:rPr>
              <a:t>Gọi Ngay: (+84) 0886 131 139
</a:t>
            </a:r>
            <a:r>
              <a:rPr lang="en-US" sz="1300" b="1">
                <a:solidFill>
                  <a:srgbClr val="FFFFFF"/>
                </a:solidFill>
              </a:rPr>
              <a:t>✅  </a:t>
            </a:r>
            <a:r>
              <a:rPr lang="vi-VN" sz="1300" b="1">
                <a:solidFill>
                  <a:srgbClr val="FFFFFF"/>
                </a:solidFill>
              </a:rPr>
              <a:t>Tư vấn miễn phí — Xác nhận trong 2 giờ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42" name="Rectangle: Rounded Corners 41"/>
          <p:cNvSpPr/>
          <p:nvPr/>
        </p:nvSpPr>
        <p:spPr>
          <a:xfrm>
            <a:off x="6197600" y="2667000"/>
            <a:ext cx="5588000" cy="1117600"/>
          </a:xfrm>
          <a:prstGeom prst="roundRect">
            <a:avLst/>
          </a:prstGeom>
          <a:solidFill>
            <a:srgbClr val="0068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💬  Zalo: 0886 131 139
✅  Phản hồi ngay qua chat Zalo</a:t>
            </a:r>
            <a:endParaRPr lang="en-US" sz="1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540000" y="-2540000"/>
            <a:ext cx="7874000" cy="7874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6858000" y="2286000"/>
            <a:ext cx="6604000" cy="6604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FDC8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0" y="254000"/>
            <a:ext cx="2540000" cy="50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76000" y="127000"/>
            <a:ext cx="9525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FFEBBE"/>
                </a:solidFill>
                <a:latin typeface="Calibri" panose="020F0502020204030204" pitchFamily="34" charset="0"/>
              </a:rPr>
              <a:t>10 / 10</a:t>
            </a:r>
            <a:endParaRPr lang="en-US" sz="800">
              <a:solidFill>
                <a:srgbClr val="FFEBB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000" y="9906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Georgia" panose="02040502050405020303" pitchFamily="18" charset="0"/>
              </a:rPr>
              <a:t>Sẵn sàng đồng hành cùng bạn</a:t>
            </a:r>
            <a:endParaRPr lang="en-US" sz="3200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000" y="17018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1300">
                <a:solidFill>
                  <a:srgbClr val="FFEBC3"/>
                </a:solidFill>
                <a:latin typeface="Calibri" panose="020F0502020204030204" pitchFamily="34" charset="0"/>
              </a:rPr>
              <a:t>Liên hệ ngay hôm nay — tư vấn miễn phí, xác nhận trong 2 giờ làm việc.</a:t>
            </a:r>
            <a:endParaRPr lang="en-US" sz="1300">
              <a:solidFill>
                <a:srgbClr val="FFEBC3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318000" y="2108200"/>
            <a:ext cx="3556000" cy="0"/>
          </a:xfrm>
          <a:prstGeom prst="line">
            <a:avLst/>
          </a:prstGeom>
          <a:ln w="12700">
            <a:solidFill>
              <a:srgbClr val="FFD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/>
          <p:cNvSpPr/>
          <p:nvPr/>
        </p:nvSpPr>
        <p:spPr>
          <a:xfrm>
            <a:off x="10160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0574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📞</a:t>
            </a:r>
            <a:endParaRPr lang="en-US" sz="2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76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HOTLINE</a:t>
            </a:r>
            <a:endParaRPr lang="en-US" sz="800">
              <a:solidFill>
                <a:srgbClr val="FFE1AA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76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(+84) 0886 131 139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37846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260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💬</a:t>
            </a:r>
            <a:endParaRPr lang="en-US" sz="2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862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ZALO</a:t>
            </a:r>
            <a:endParaRPr lang="en-US" sz="800">
              <a:solidFill>
                <a:srgbClr val="FFE1A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862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0886 131 139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5532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5946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📧</a:t>
            </a:r>
            <a:endParaRPr lang="en-US" sz="2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548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EMAIL</a:t>
            </a:r>
            <a:endParaRPr lang="en-US" sz="800">
              <a:solidFill>
                <a:srgbClr val="FFE1AA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548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info@vholidaytour.com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9321800" y="2336800"/>
            <a:ext cx="2540000" cy="19304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 cap="flat" cmpd="sng" algn="ctr">
            <a:solidFill>
              <a:srgbClr val="FFD78C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363200" y="2489200"/>
            <a:ext cx="457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🕐</a:t>
            </a:r>
            <a:endParaRPr lang="en-US" sz="2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23400" y="3022600"/>
            <a:ext cx="2336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FFE1AA"/>
                </a:solidFill>
                <a:latin typeface="Calibri" panose="020F0502020204030204" pitchFamily="34" charset="0"/>
              </a:rPr>
              <a:t>GIỜ LÀM VIỆC</a:t>
            </a:r>
            <a:endParaRPr lang="en-US" sz="800">
              <a:solidFill>
                <a:srgbClr val="FFE1AA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23400" y="3251200"/>
            <a:ext cx="2336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orgia" panose="02040502050405020303" pitchFamily="18" charset="0"/>
              </a:rPr>
              <a:t>7:00 — 21:00 hàng ngày</a:t>
            </a:r>
            <a:endParaRPr lang="en-US" sz="1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4064000" y="4635500"/>
            <a:ext cx="4064000" cy="0"/>
          </a:xfrm>
          <a:prstGeom prst="line">
            <a:avLst/>
          </a:prstGeom>
          <a:ln w="12700">
            <a:solidFill>
              <a:srgbClr val="FFDC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8000" y="47498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FFE6AF"/>
                </a:solidFill>
                <a:latin typeface="Calibri" panose="020F0502020204030204" pitchFamily="34" charset="0"/>
              </a:rPr>
              <a:t>Nâng tầm giá trị cuộc sống qua từng hành trình</a:t>
            </a:r>
            <a:endParaRPr lang="en-US" sz="1200">
              <a:solidFill>
                <a:srgbClr val="FFE6A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8000" y="5080000"/>
            <a:ext cx="1117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FFD28C"/>
                </a:solidFill>
                <a:latin typeface="Calibri" panose="020F0502020204030204" pitchFamily="34" charset="0"/>
              </a:rPr>
              <a:t>© 2026 V Holiday Tour · vholidaytour.com</a:t>
            </a:r>
            <a:endParaRPr lang="en-US" sz="1000">
              <a:solidFill>
                <a:srgbClr val="FFD28C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3628</Words>
  <Application>WPS Presentation</Application>
  <PresentationFormat>Custom</PresentationFormat>
  <Paragraphs>344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Georgia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Mr.Tuan - Landtour Cam-Lao-Thai</dc:creator>
  <cp:lastModifiedBy>Tuấn Đen</cp:lastModifiedBy>
  <cp:revision>2</cp:revision>
  <dcterms:created xsi:type="dcterms:W3CDTF">2026-06-26T13:19:00Z</dcterms:created>
  <dcterms:modified xsi:type="dcterms:W3CDTF">2026-06-26T13:55:34Z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9C3762B5220249A3A16280E49A1F189A_13</vt:lpwstr>
  </property>
  <property fmtid="{D5CDD505-2E9C-101B-9397-08002B2CF9AE}" pid="3" name="KSOProductBuildVer">
    <vt:lpwstr>1033-12.1.0.26880</vt:lpwstr>
  </property>
</Properties>
</file>