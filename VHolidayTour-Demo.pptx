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C604-3255-0CDA-FD53-0DD78AF7D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65969-6350-AD6F-9195-EABCF0018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794DC-D4D1-1342-AC92-9A2FE569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22264-3592-90A7-00B1-B08CA2DA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1A666-7D13-07C5-D8B7-05867B3E5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60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7D3F-5688-2842-D15C-1078F828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A3574-D01E-F222-EFCE-9E29382A9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2E4DD-8BD2-A438-15CE-CE7D9833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005EA-2F85-8BB4-872F-F6FCF888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9AE87-D731-D676-4493-343F3B34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8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B7F2-5DA5-E919-B127-4FAF2366B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FDB9A-0A44-368A-6D97-47E94C4A8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2B943-0E3D-2731-8971-9F589AF6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457C1-AB93-F1E8-AC40-9522E10F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23A21-D6DF-4241-9AE5-C162D478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1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67A1-6E0F-C47B-96B3-132C34AE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5CE0B-470B-1F0C-0F61-66F189498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A5380-F0DA-6766-625F-02B4BA587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4F828-DAB6-F949-9558-7CA91D92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2BC29-814B-07DD-4A17-3D29A1B2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CA7FD-CB86-F69A-7C35-87FEC64E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9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EA22-3FE2-4C27-E2B2-0DB55851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88870-172A-2634-BDBA-E4FA19A23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29F05-9C40-C916-E271-10103216A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7260D3-4270-2F43-6471-531551ED1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CC53C2-0DCE-11C4-BB37-E07D953EC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B1A95C-4DBD-6DD6-4AFC-A99A9AF56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9BC7B-2341-C66E-30CA-15E7844E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05BB51-AC7F-150E-46DA-B1D3694FA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7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85F5-B178-25AA-ADC3-CB53651D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A1E4E-63CE-8465-AD69-3E7C5EC2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87B74-940F-248D-95D1-74570427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1A69D-B3D8-B915-F0C4-552312B5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9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0725D-4704-1BB2-E0DF-3E693B361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A3BE0-A23D-9F39-1521-026FC06E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62AF0-F028-9D06-15F4-238141F3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9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8641-33DD-45AE-6E8B-54EA223D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7F795-7183-E394-9380-88ADFD0B2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4270-70E5-DA93-6278-14161BAF5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1EA24-8855-760B-7EF4-96681C63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EDEF7-0779-E123-DDBA-92E75409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05D3F-8C73-0CBB-5FAB-65E39842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9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680A-064B-9289-F62C-A7689471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B10498-BF4E-05CC-AD7D-0B33072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12997-A76A-92E9-609E-CD655167E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DF885-6D47-F8D2-A732-2E40F737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15ED6-A8C3-EAD5-DB9E-928B30A4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B8B7C-E759-BCAC-4C25-6971B1ED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3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B307-B426-A098-BCFD-5D1E3C98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81C2B-09A9-5D4C-51E1-3D23F7279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FCBBF-7C98-3645-AFCB-9BED8886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75DDC-73F9-8050-13F8-4BC511EC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39E6F-2F7A-A4C4-D6FA-326C9140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EBBF0-C0E6-0CF8-F28E-1925DA3ED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CA677-4133-D394-6F07-9D263F3C5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174DC-977B-932F-CB78-771DE01A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9CDD9-E9F2-8614-8E70-6F1FAD2F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745D9-A28C-3C90-7550-C9A4DF42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3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A5989-5172-A5A0-9D22-850EED4A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1E7B6-E589-4977-6D7F-E28BAF83D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6BFA5-E6D5-2F20-9180-3B0623315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B75CD-0247-4430-B19B-79C61E67E6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A96CD-AC45-BC87-5D42-8E087E7CC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E7CAF-2E4D-2047-28FE-5FFB15858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B42B1-62B1-40B7-9DAF-00866CA3C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0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1 -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58E6B6-0DF7-A97C-9A18-2B8397C9A8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0"/>
            <a:ext cx="6667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C2C2D03-0BB6-6244-C2E6-D47CF8CBF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602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A9A20F-C11F-FD39-FE96-F1763ECB19BE}"/>
              </a:ext>
            </a:extLst>
          </p:cNvPr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E090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3EF779-8560-762A-9820-067815B756FB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A0BA7A-8731-B285-7245-F864197BBB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800"/>
            <a:ext cx="1905000" cy="38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D25B96-8445-81C9-B013-8B04E554EA27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1 /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E29B1-6565-43EF-1134-0CF2AE2CAE2D}"/>
              </a:ext>
            </a:extLst>
          </p:cNvPr>
          <p:cNvSpPr txBox="1"/>
          <p:nvPr/>
        </p:nvSpPr>
        <p:spPr>
          <a:xfrm>
            <a:off x="508000" y="1206500"/>
            <a:ext cx="5334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✦  VÙNG ĐẤT THIÊNG LIÊNG MIỀN NAM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DC4C5-B5FB-AD04-5AF9-46BD5E22F0E0}"/>
              </a:ext>
            </a:extLst>
          </p:cNvPr>
          <p:cNvSpPr txBox="1"/>
          <p:nvPr/>
        </p:nvSpPr>
        <p:spPr>
          <a:xfrm>
            <a:off x="508000" y="1498600"/>
            <a:ext cx="546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Georgia" panose="02040502050405020303" pitchFamily="18" charset="0"/>
              </a:rPr>
              <a:t>Trải nghiệm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B8286-7BE8-7FC1-0BBC-1B9C39E1CD53}"/>
              </a:ext>
            </a:extLst>
          </p:cNvPr>
          <p:cNvSpPr txBox="1"/>
          <p:nvPr/>
        </p:nvSpPr>
        <p:spPr>
          <a:xfrm>
            <a:off x="508000" y="2362200"/>
            <a:ext cx="546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0B955"/>
                </a:solidFill>
                <a:latin typeface="Georgia" panose="02040502050405020303" pitchFamily="18" charset="0"/>
              </a:rPr>
              <a:t>Vùng Đất Tâm Linh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0FF7A-D0AF-F8E4-AA4A-F684F2B50C77}"/>
              </a:ext>
            </a:extLst>
          </p:cNvPr>
          <p:cNvSpPr txBox="1"/>
          <p:nvPr/>
        </p:nvSpPr>
        <p:spPr>
          <a:xfrm>
            <a:off x="508000" y="3251200"/>
            <a:ext cx="5232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3B29B"/>
                </a:solidFill>
                <a:latin typeface="Calibri" panose="020F0502020204030204" pitchFamily="34" charset="0"/>
              </a:rPr>
              <a:t>Núi Bà Đen huyền bí, Tòa Thánh Cao Đài linh thiêng — hành trình chạm đến điều thiêng liêng tại Tây Ninh.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CD7410-0690-64B7-443D-81670FFA3DD0}"/>
              </a:ext>
            </a:extLst>
          </p:cNvPr>
          <p:cNvSpPr txBox="1"/>
          <p:nvPr/>
        </p:nvSpPr>
        <p:spPr>
          <a:xfrm>
            <a:off x="508000" y="4368800"/>
            <a:ext cx="533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F0B955"/>
                </a:solidFill>
                <a:latin typeface="Calibri" panose="020F0502020204030204" pitchFamily="34" charset="0"/>
              </a:rPr>
              <a:t>Hotline + Zalo: (+84) 0886 131 139</a:t>
            </a:r>
            <a:endParaRPr lang="en-US" sz="11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94F23F-B6FB-661F-A4CC-319512436DA5}"/>
              </a:ext>
            </a:extLst>
          </p:cNvPr>
          <p:cNvSpPr/>
          <p:nvPr/>
        </p:nvSpPr>
        <p:spPr>
          <a:xfrm>
            <a:off x="508000" y="4749800"/>
            <a:ext cx="2222500" cy="558800"/>
          </a:xfrm>
          <a:prstGeom prst="round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  Đặt Tour Ngay  ►</a:t>
            </a:r>
          </a:p>
        </p:txBody>
      </p:sp>
    </p:spTree>
    <p:extLst>
      <p:ext uri="{BB962C8B-B14F-4D97-AF65-F5344CB8AC3E}">
        <p14:creationId xmlns:p14="http://schemas.microsoft.com/office/powerpoint/2010/main" val="2963946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2 -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288116-DF72-4222-B54F-4E159165116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04C83-58D6-0F20-9700-3F2F7C43ABA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3B7344-5BFE-C625-5576-1EC08A78ED97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2 /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98F7B-4D31-F2CB-C0CF-14467C2D289F}"/>
              </a:ext>
            </a:extLst>
          </p:cNvPr>
          <p:cNvSpPr txBox="1"/>
          <p:nvPr/>
        </p:nvSpPr>
        <p:spPr>
          <a:xfrm>
            <a:off x="508000" y="635000"/>
            <a:ext cx="381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TỔNG QUAN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60AB9-9CFC-FD53-CD03-7C80FA69B1C5}"/>
              </a:ext>
            </a:extLst>
          </p:cNvPr>
          <p:cNvSpPr txBox="1"/>
          <p:nvPr/>
        </p:nvSpPr>
        <p:spPr>
          <a:xfrm>
            <a:off x="508000" y="863600"/>
            <a:ext cx="889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Georgia" panose="02040502050405020303" pitchFamily="18" charset="0"/>
              </a:rPr>
              <a:t>Vì sao chọn V Holiday Tour?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92DEC0-9B63-9164-9BCD-48BA75E9D77D}"/>
              </a:ext>
            </a:extLst>
          </p:cNvPr>
          <p:cNvSpPr txBox="1"/>
          <p:nvPr/>
        </p:nvSpPr>
        <p:spPr>
          <a:xfrm>
            <a:off x="508000" y="1600200"/>
            <a:ext cx="889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AA916E"/>
                </a:solidFill>
                <a:latin typeface="Calibri" panose="020F0502020204030204" pitchFamily="34" charset="0"/>
              </a:rPr>
              <a:t>12 năm đồng hành cùng hàng chục nghìn lữ khách trên khắp Việt Nam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411CBC-6404-7FFA-5856-845BDFB5B1E3}"/>
              </a:ext>
            </a:extLst>
          </p:cNvPr>
          <p:cNvSpPr/>
          <p:nvPr/>
        </p:nvSpPr>
        <p:spPr>
          <a:xfrm>
            <a:off x="508000" y="2133600"/>
            <a:ext cx="2235200" cy="1549400"/>
          </a:xfrm>
          <a:prstGeom prst="roundRect">
            <a:avLst/>
          </a:prstGeom>
          <a:solidFill>
            <a:srgbClr val="32230E"/>
          </a:solidFill>
          <a:ln w="12700" cap="flat" cmpd="sng" algn="ctr">
            <a:solidFill>
              <a:srgbClr val="64461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EA1D8-66D3-C7AE-BD72-CF31D08D2169}"/>
              </a:ext>
            </a:extLst>
          </p:cNvPr>
          <p:cNvSpPr txBox="1"/>
          <p:nvPr/>
        </p:nvSpPr>
        <p:spPr>
          <a:xfrm>
            <a:off x="635000" y="2260600"/>
            <a:ext cx="19812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0B955"/>
                </a:solidFill>
                <a:latin typeface="Georgia" panose="02040502050405020303" pitchFamily="18" charset="0"/>
              </a:rPr>
              <a:t>4.8 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EDE56C-5F27-E300-78A8-9DCC15EFACAB}"/>
              </a:ext>
            </a:extLst>
          </p:cNvPr>
          <p:cNvSpPr txBox="1"/>
          <p:nvPr/>
        </p:nvSpPr>
        <p:spPr>
          <a:xfrm>
            <a:off x="635000" y="2946400"/>
            <a:ext cx="198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AF9673"/>
                </a:solidFill>
                <a:latin typeface="Calibri" panose="020F0502020204030204" pitchFamily="34" charset="0"/>
              </a:rPr>
              <a:t>Đánh Giá Trung Bình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BDF34D-F5B2-4764-A1FF-75D4EA3DC18E}"/>
              </a:ext>
            </a:extLst>
          </p:cNvPr>
          <p:cNvSpPr/>
          <p:nvPr/>
        </p:nvSpPr>
        <p:spPr>
          <a:xfrm>
            <a:off x="3048000" y="2133600"/>
            <a:ext cx="2235200" cy="1549400"/>
          </a:xfrm>
          <a:prstGeom prst="roundRect">
            <a:avLst/>
          </a:prstGeom>
          <a:solidFill>
            <a:srgbClr val="32230E"/>
          </a:solidFill>
          <a:ln w="12700" cap="flat" cmpd="sng" algn="ctr">
            <a:solidFill>
              <a:srgbClr val="64461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8457D8-8FD8-BA2F-C597-E980F400DAB4}"/>
              </a:ext>
            </a:extLst>
          </p:cNvPr>
          <p:cNvSpPr txBox="1"/>
          <p:nvPr/>
        </p:nvSpPr>
        <p:spPr>
          <a:xfrm>
            <a:off x="3175000" y="2260600"/>
            <a:ext cx="19812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0B955"/>
                </a:solidFill>
                <a:latin typeface="Georgia" panose="02040502050405020303" pitchFamily="18" charset="0"/>
              </a:rPr>
              <a:t>50K+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B40302-38AF-550F-D772-F2D0416C0908}"/>
              </a:ext>
            </a:extLst>
          </p:cNvPr>
          <p:cNvSpPr txBox="1"/>
          <p:nvPr/>
        </p:nvSpPr>
        <p:spPr>
          <a:xfrm>
            <a:off x="3175000" y="2946400"/>
            <a:ext cx="198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AF9673"/>
                </a:solidFill>
                <a:latin typeface="Calibri" panose="020F0502020204030204" pitchFamily="34" charset="0"/>
              </a:rPr>
              <a:t>Lữ Khách Hài Lòng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048DC0-5C04-6FF4-20AC-67D389E99459}"/>
              </a:ext>
            </a:extLst>
          </p:cNvPr>
          <p:cNvSpPr/>
          <p:nvPr/>
        </p:nvSpPr>
        <p:spPr>
          <a:xfrm>
            <a:off x="5588000" y="2133600"/>
            <a:ext cx="2235200" cy="1549400"/>
          </a:xfrm>
          <a:prstGeom prst="roundRect">
            <a:avLst/>
          </a:prstGeom>
          <a:solidFill>
            <a:srgbClr val="32230E"/>
          </a:solidFill>
          <a:ln w="12700" cap="flat" cmpd="sng" algn="ctr">
            <a:solidFill>
              <a:srgbClr val="64461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E045D5-00C3-3D7D-C76C-4AB5966C61EF}"/>
              </a:ext>
            </a:extLst>
          </p:cNvPr>
          <p:cNvSpPr txBox="1"/>
          <p:nvPr/>
        </p:nvSpPr>
        <p:spPr>
          <a:xfrm>
            <a:off x="5715000" y="2260600"/>
            <a:ext cx="19812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0B955"/>
                </a:solidFill>
                <a:latin typeface="Georgia" panose="02040502050405020303" pitchFamily="18" charset="0"/>
              </a:rPr>
              <a:t>12 Năm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C289A-C16C-76B7-9E16-6C19F229E513}"/>
              </a:ext>
            </a:extLst>
          </p:cNvPr>
          <p:cNvSpPr txBox="1"/>
          <p:nvPr/>
        </p:nvSpPr>
        <p:spPr>
          <a:xfrm>
            <a:off x="5715000" y="2946400"/>
            <a:ext cx="198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AF9673"/>
                </a:solidFill>
                <a:latin typeface="Calibri" panose="020F0502020204030204" pitchFamily="34" charset="0"/>
              </a:rPr>
              <a:t>Kinh Nghiệm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925D6-874B-2D76-2C94-6B38B1E0D04B}"/>
              </a:ext>
            </a:extLst>
          </p:cNvPr>
          <p:cNvSpPr txBox="1"/>
          <p:nvPr/>
        </p:nvSpPr>
        <p:spPr>
          <a:xfrm>
            <a:off x="508000" y="4165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BEA582"/>
                </a:solidFill>
                <a:latin typeface="Calibri" panose="020F0502020204030204" pitchFamily="34" charset="0"/>
              </a:rPr>
              <a:t>✅  Xác nhận trong 2 giờ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43FBE9-56F3-8215-04DF-0A75C0FBA0AE}"/>
              </a:ext>
            </a:extLst>
          </p:cNvPr>
          <p:cNvSpPr txBox="1"/>
          <p:nvPr/>
        </p:nvSpPr>
        <p:spPr>
          <a:xfrm>
            <a:off x="3403600" y="4165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BEA582"/>
                </a:solidFill>
                <a:latin typeface="Calibri" panose="020F0502020204030204" pitchFamily="34" charset="0"/>
              </a:rPr>
              <a:t>🔄  Hủy miễn phí 48h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9B93C0-5E2B-523B-4739-6EEE6735457E}"/>
              </a:ext>
            </a:extLst>
          </p:cNvPr>
          <p:cNvSpPr txBox="1"/>
          <p:nvPr/>
        </p:nvSpPr>
        <p:spPr>
          <a:xfrm>
            <a:off x="6299200" y="4165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BEA582"/>
                </a:solidFill>
                <a:latin typeface="Calibri" panose="020F0502020204030204" pitchFamily="34" charset="0"/>
              </a:rPr>
              <a:t>🛡️  Bảo hiểm chuyến đi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02E187-AC41-6CD6-09BA-A8B7E63BBCF0}"/>
              </a:ext>
            </a:extLst>
          </p:cNvPr>
          <p:cNvSpPr txBox="1"/>
          <p:nvPr/>
        </p:nvSpPr>
        <p:spPr>
          <a:xfrm>
            <a:off x="9194800" y="4165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BEA582"/>
                </a:solidFill>
                <a:latin typeface="Calibri" panose="020F0502020204030204" pitchFamily="34" charset="0"/>
              </a:rPr>
              <a:t>📞  Hỗ trợ 24/7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5FD683-F3BC-AA42-F8A7-285CE1D6A9F6}"/>
              </a:ext>
            </a:extLst>
          </p:cNvPr>
          <p:cNvCxnSpPr/>
          <p:nvPr/>
        </p:nvCxnSpPr>
        <p:spPr>
          <a:xfrm>
            <a:off x="508000" y="4622800"/>
            <a:ext cx="111760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E996E06-6159-AC27-B4CB-D0D48AD587BD}"/>
              </a:ext>
            </a:extLst>
          </p:cNvPr>
          <p:cNvSpPr txBox="1"/>
          <p:nvPr/>
        </p:nvSpPr>
        <p:spPr>
          <a:xfrm>
            <a:off x="508000" y="4749800"/>
            <a:ext cx="1117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8C6941"/>
                </a:solidFill>
                <a:latin typeface="Calibri" panose="020F0502020204030204" pitchFamily="34" charset="0"/>
              </a:rPr>
              <a:t>V Holiday Tour  ·  vholidaytour.com  ·  (+84) 0886 131 139</a:t>
            </a:r>
          </a:p>
        </p:txBody>
      </p:sp>
    </p:spTree>
    <p:extLst>
      <p:ext uri="{BB962C8B-B14F-4D97-AF65-F5344CB8AC3E}">
        <p14:creationId xmlns:p14="http://schemas.microsoft.com/office/powerpoint/2010/main" val="234100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3 - Destin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40AA45-8279-A3E7-4DCB-FBDFE5C795C9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CBD61-B02E-6D0D-788C-2D084CA79A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5F1A74-5B16-077F-DD1E-71209B05A8DE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3 /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D9631-0F97-0B71-64A4-AB77CBAFC17A}"/>
              </a:ext>
            </a:extLst>
          </p:cNvPr>
          <p:cNvSpPr txBox="1"/>
          <p:nvPr/>
        </p:nvSpPr>
        <p:spPr>
          <a:xfrm>
            <a:off x="508000" y="406400"/>
            <a:ext cx="508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KHÁM PHÁ TÂY NINH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CF938-593F-ED66-1CF4-22B360D5FA4D}"/>
              </a:ext>
            </a:extLst>
          </p:cNvPr>
          <p:cNvSpPr txBox="1"/>
          <p:nvPr/>
        </p:nvSpPr>
        <p:spPr>
          <a:xfrm>
            <a:off x="508000" y="635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Những điểm đến không thể bỏ qua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5F1727-545F-27A4-219C-2E77093248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71600"/>
            <a:ext cx="4572000" cy="2667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4D05AF-89A7-8243-77C8-8E0ED09354ED}"/>
              </a:ext>
            </a:extLst>
          </p:cNvPr>
          <p:cNvSpPr/>
          <p:nvPr/>
        </p:nvSpPr>
        <p:spPr>
          <a:xfrm>
            <a:off x="508000" y="3479800"/>
            <a:ext cx="45720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D5230-E054-CF44-9BF6-482247B3D170}"/>
              </a:ext>
            </a:extLst>
          </p:cNvPr>
          <p:cNvSpPr txBox="1"/>
          <p:nvPr/>
        </p:nvSpPr>
        <p:spPr>
          <a:xfrm>
            <a:off x="596900" y="3505200"/>
            <a:ext cx="43942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Tây Ninh · Điểm Chính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C02C10-2F37-5209-CD92-A8976682D2AF}"/>
              </a:ext>
            </a:extLst>
          </p:cNvPr>
          <p:cNvSpPr txBox="1"/>
          <p:nvPr/>
        </p:nvSpPr>
        <p:spPr>
          <a:xfrm>
            <a:off x="596900" y="3683000"/>
            <a:ext cx="4394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Núi Bà Đen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24B8D0-2E96-D14B-92E0-4542DB95653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1371600"/>
            <a:ext cx="2476500" cy="127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C5DF777-BB4D-1274-2DAC-3B35C35916AB}"/>
              </a:ext>
            </a:extLst>
          </p:cNvPr>
          <p:cNvSpPr/>
          <p:nvPr/>
        </p:nvSpPr>
        <p:spPr>
          <a:xfrm>
            <a:off x="5207000" y="2082800"/>
            <a:ext cx="24765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71F404-71E2-3688-8367-E218FFB4A388}"/>
              </a:ext>
            </a:extLst>
          </p:cNvPr>
          <p:cNvSpPr txBox="1"/>
          <p:nvPr/>
        </p:nvSpPr>
        <p:spPr>
          <a:xfrm>
            <a:off x="5295900" y="2108200"/>
            <a:ext cx="22987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Di Sản Tâm Linh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850A16-11EE-5C56-9BEE-EC46B344AB11}"/>
              </a:ext>
            </a:extLst>
          </p:cNvPr>
          <p:cNvSpPr txBox="1"/>
          <p:nvPr/>
        </p:nvSpPr>
        <p:spPr>
          <a:xfrm>
            <a:off x="5295900" y="2286000"/>
            <a:ext cx="22987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Tòa Thánh Cao Đài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530C6B-EFDC-8256-6C3D-8F4B6B00B8AB}"/>
              </a:ext>
            </a:extLst>
          </p:cNvPr>
          <p:cNvSpPr/>
          <p:nvPr/>
        </p:nvSpPr>
        <p:spPr>
          <a:xfrm>
            <a:off x="7810500" y="1371600"/>
            <a:ext cx="3873500" cy="12700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F97166-62E3-078F-F68D-52742022D68E}"/>
              </a:ext>
            </a:extLst>
          </p:cNvPr>
          <p:cNvSpPr/>
          <p:nvPr/>
        </p:nvSpPr>
        <p:spPr>
          <a:xfrm>
            <a:off x="7810500" y="2082800"/>
            <a:ext cx="38735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33F322-697D-068A-B15B-81A9D16368DC}"/>
              </a:ext>
            </a:extLst>
          </p:cNvPr>
          <p:cNvSpPr txBox="1"/>
          <p:nvPr/>
        </p:nvSpPr>
        <p:spPr>
          <a:xfrm>
            <a:off x="7899400" y="2108200"/>
            <a:ext cx="36957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Tây Ninh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C22D9C-EC4A-DA9F-1E85-2F80DD362286}"/>
              </a:ext>
            </a:extLst>
          </p:cNvPr>
          <p:cNvSpPr txBox="1"/>
          <p:nvPr/>
        </p:nvSpPr>
        <p:spPr>
          <a:xfrm>
            <a:off x="7899400" y="2286000"/>
            <a:ext cx="36957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Hồ Dầu Tiếng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DEE9E-5EA9-6EE3-E54D-6736E18A167E}"/>
              </a:ext>
            </a:extLst>
          </p:cNvPr>
          <p:cNvSpPr/>
          <p:nvPr/>
        </p:nvSpPr>
        <p:spPr>
          <a:xfrm>
            <a:off x="5207000" y="2768600"/>
            <a:ext cx="2476500" cy="12700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F3B1E6-BB53-A488-6978-2F771C517AAD}"/>
              </a:ext>
            </a:extLst>
          </p:cNvPr>
          <p:cNvSpPr/>
          <p:nvPr/>
        </p:nvSpPr>
        <p:spPr>
          <a:xfrm>
            <a:off x="5207000" y="3479800"/>
            <a:ext cx="24765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AB942-9C3B-1CE2-C834-C966122557F3}"/>
              </a:ext>
            </a:extLst>
          </p:cNvPr>
          <p:cNvSpPr txBox="1"/>
          <p:nvPr/>
        </p:nvSpPr>
        <p:spPr>
          <a:xfrm>
            <a:off x="5295900" y="3505200"/>
            <a:ext cx="22987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Thiên Nhiên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DE1FA0-5CF6-E9D3-56B0-13A653ADC96C}"/>
              </a:ext>
            </a:extLst>
          </p:cNvPr>
          <p:cNvSpPr txBox="1"/>
          <p:nvPr/>
        </p:nvSpPr>
        <p:spPr>
          <a:xfrm>
            <a:off x="5295900" y="3683000"/>
            <a:ext cx="22987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300" b="1">
                <a:solidFill>
                  <a:srgbClr val="FFFFFF"/>
                </a:solidFill>
              </a:rPr>
              <a:t>Vườn QG Lò Gò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9F38C9-67C6-62FB-C68A-C908A468A30B}"/>
              </a:ext>
            </a:extLst>
          </p:cNvPr>
          <p:cNvSpPr/>
          <p:nvPr/>
        </p:nvSpPr>
        <p:spPr>
          <a:xfrm>
            <a:off x="7810500" y="2768600"/>
            <a:ext cx="3873500" cy="12700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443B03-8D3A-A288-6EB5-DFE20CE66EC7}"/>
              </a:ext>
            </a:extLst>
          </p:cNvPr>
          <p:cNvSpPr/>
          <p:nvPr/>
        </p:nvSpPr>
        <p:spPr>
          <a:xfrm>
            <a:off x="7810500" y="3479800"/>
            <a:ext cx="38735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FCDFC1-18C0-4105-AB2C-AA6BDBDFE9E0}"/>
              </a:ext>
            </a:extLst>
          </p:cNvPr>
          <p:cNvSpPr txBox="1"/>
          <p:nvPr/>
        </p:nvSpPr>
        <p:spPr>
          <a:xfrm>
            <a:off x="7899400" y="3505200"/>
            <a:ext cx="36957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Đặc Sản Tây Ninh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4E17C3-CB5C-3426-6737-9298C1750054}"/>
              </a:ext>
            </a:extLst>
          </p:cNvPr>
          <p:cNvSpPr txBox="1"/>
          <p:nvPr/>
        </p:nvSpPr>
        <p:spPr>
          <a:xfrm>
            <a:off x="7899400" y="3683000"/>
            <a:ext cx="36957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Ẩm Thực Trảng Bàng</a:t>
            </a:r>
          </a:p>
        </p:txBody>
      </p:sp>
    </p:spTree>
    <p:extLst>
      <p:ext uri="{BB962C8B-B14F-4D97-AF65-F5344CB8AC3E}">
        <p14:creationId xmlns:p14="http://schemas.microsoft.com/office/powerpoint/2010/main" val="221937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4 - Itine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44B03-18DB-DB8A-C71A-B29D154742C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C97-AD68-53DB-8AA5-B62ACB7CF3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00C255-1269-6C8E-0640-43815891AE65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4 /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A5FA4-A999-5B7F-7259-2FBD666D2A67}"/>
              </a:ext>
            </a:extLst>
          </p:cNvPr>
          <p:cNvSpPr txBox="1"/>
          <p:nvPr/>
        </p:nvSpPr>
        <p:spPr>
          <a:xfrm>
            <a:off x="508000" y="406400"/>
            <a:ext cx="508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HÀNH TRÌNH GỢI 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DEEA8-B124-479A-2E9E-A0B4BD25C6BA}"/>
              </a:ext>
            </a:extLst>
          </p:cNvPr>
          <p:cNvSpPr txBox="1"/>
          <p:nvPr/>
        </p:nvSpPr>
        <p:spPr>
          <a:xfrm>
            <a:off x="508000" y="635000"/>
            <a:ext cx="762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Một ngày trọn vẹn tại Tây Ninh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D50959-B593-247D-FD37-D41CCD19C22C}"/>
              </a:ext>
            </a:extLst>
          </p:cNvPr>
          <p:cNvCxnSpPr/>
          <p:nvPr/>
        </p:nvCxnSpPr>
        <p:spPr>
          <a:xfrm>
            <a:off x="1524000" y="2387600"/>
            <a:ext cx="9144000" cy="0"/>
          </a:xfrm>
          <a:prstGeom prst="line">
            <a:avLst/>
          </a:prstGeom>
          <a:ln w="12700">
            <a:solidFill>
              <a:srgbClr val="C98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50E1ABD-7A7E-DA10-EEAE-696580D07947}"/>
              </a:ext>
            </a:extLst>
          </p:cNvPr>
          <p:cNvSpPr/>
          <p:nvPr/>
        </p:nvSpPr>
        <p:spPr>
          <a:xfrm>
            <a:off x="13081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298AFE-C3F7-CFD3-8F61-E1675A8F1D2C}"/>
              </a:ext>
            </a:extLst>
          </p:cNvPr>
          <p:cNvSpPr txBox="1"/>
          <p:nvPr/>
        </p:nvSpPr>
        <p:spPr>
          <a:xfrm>
            <a:off x="5588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05:30–08:00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D4EEE1-B91E-D59D-489D-4E257C745F6D}"/>
              </a:ext>
            </a:extLst>
          </p:cNvPr>
          <p:cNvSpPr txBox="1"/>
          <p:nvPr/>
        </p:nvSpPr>
        <p:spPr>
          <a:xfrm>
            <a:off x="5588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Xuất Phát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D2124-CAC5-3DD4-FC30-E81DF5605D50}"/>
              </a:ext>
            </a:extLst>
          </p:cNvPr>
          <p:cNvSpPr txBox="1"/>
          <p:nvPr/>
        </p:nvSpPr>
        <p:spPr>
          <a:xfrm>
            <a:off x="5588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AA9473"/>
                </a:solidFill>
                <a:latin typeface="Calibri" panose="020F0502020204030204" pitchFamily="34" charset="0"/>
              </a:rPr>
              <a:t>Xe đón tại nhà, di chuyển đến Tây Ninh buổi sáng sớm bình yên.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1C5DA1-2F2F-BEAC-604E-7CD89B4C54E0}"/>
              </a:ext>
            </a:extLst>
          </p:cNvPr>
          <p:cNvSpPr/>
          <p:nvPr/>
        </p:nvSpPr>
        <p:spPr>
          <a:xfrm>
            <a:off x="33655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⛰️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F3D53F-1E2F-007C-9DEC-F28CB4CDDAE3}"/>
              </a:ext>
            </a:extLst>
          </p:cNvPr>
          <p:cNvSpPr txBox="1"/>
          <p:nvPr/>
        </p:nvSpPr>
        <p:spPr>
          <a:xfrm>
            <a:off x="26162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08:00–12:00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292809-8A8C-9FF9-862C-B5324162FF3D}"/>
              </a:ext>
            </a:extLst>
          </p:cNvPr>
          <p:cNvSpPr txBox="1"/>
          <p:nvPr/>
        </p:nvSpPr>
        <p:spPr>
          <a:xfrm>
            <a:off x="26162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Núi Bà Đen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44F5B1-9327-BE57-0396-4B30A9B40963}"/>
              </a:ext>
            </a:extLst>
          </p:cNvPr>
          <p:cNvSpPr txBox="1"/>
          <p:nvPr/>
        </p:nvSpPr>
        <p:spPr>
          <a:xfrm>
            <a:off x="26162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AA9473"/>
                </a:solidFill>
                <a:latin typeface="Calibri" panose="020F0502020204030204" pitchFamily="34" charset="0"/>
              </a:rPr>
              <a:t>Cáp treo lên đỉnh, thăm Điện Bà, ngắm toàn cảnh từ 986m.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099250-8919-1BF8-EDAF-53597238FD4D}"/>
              </a:ext>
            </a:extLst>
          </p:cNvPr>
          <p:cNvSpPr/>
          <p:nvPr/>
        </p:nvSpPr>
        <p:spPr>
          <a:xfrm>
            <a:off x="54229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78B048-DE8E-51BE-F9A5-C38CE3ECE675}"/>
              </a:ext>
            </a:extLst>
          </p:cNvPr>
          <p:cNvSpPr txBox="1"/>
          <p:nvPr/>
        </p:nvSpPr>
        <p:spPr>
          <a:xfrm>
            <a:off x="46736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12:00–13:30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B272D6-5435-276B-0F37-4AF762BD8B69}"/>
              </a:ext>
            </a:extLst>
          </p:cNvPr>
          <p:cNvSpPr txBox="1"/>
          <p:nvPr/>
        </p:nvSpPr>
        <p:spPr>
          <a:xfrm>
            <a:off x="46736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Ẩm Thực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B8B6C-EEBC-2207-DA53-6B9401F3A5AB}"/>
              </a:ext>
            </a:extLst>
          </p:cNvPr>
          <p:cNvSpPr txBox="1"/>
          <p:nvPr/>
        </p:nvSpPr>
        <p:spPr>
          <a:xfrm>
            <a:off x="46736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vi-VN" sz="900">
                <a:solidFill>
                  <a:srgbClr val="AA9473"/>
                </a:solidFill>
                <a:latin typeface="Calibri" panose="020F0502020204030204" pitchFamily="34" charset="0"/>
              </a:rPr>
              <a:t>Bánh canh, bánh tráng phơi sương — đặc sản nức tiếng.</a:t>
            </a:r>
            <a:endParaRPr lang="en-US" sz="900">
              <a:solidFill>
                <a:srgbClr val="AA9473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D8D95C-5B33-3F39-B75A-A62BE6AC95B4}"/>
              </a:ext>
            </a:extLst>
          </p:cNvPr>
          <p:cNvSpPr/>
          <p:nvPr/>
        </p:nvSpPr>
        <p:spPr>
          <a:xfrm>
            <a:off x="74803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🏛️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CF672A-002E-067D-3803-2959EA2EA6F4}"/>
              </a:ext>
            </a:extLst>
          </p:cNvPr>
          <p:cNvSpPr txBox="1"/>
          <p:nvPr/>
        </p:nvSpPr>
        <p:spPr>
          <a:xfrm>
            <a:off x="67310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14:00–16:30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C20442-8B91-CEA1-D78F-7B7CAE11A010}"/>
              </a:ext>
            </a:extLst>
          </p:cNvPr>
          <p:cNvSpPr txBox="1"/>
          <p:nvPr/>
        </p:nvSpPr>
        <p:spPr>
          <a:xfrm>
            <a:off x="67310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Tòa Thánh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25DC0D-7EDE-365B-4009-A1F70A3080A7}"/>
              </a:ext>
            </a:extLst>
          </p:cNvPr>
          <p:cNvSpPr txBox="1"/>
          <p:nvPr/>
        </p:nvSpPr>
        <p:spPr>
          <a:xfrm>
            <a:off x="67310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AA9473"/>
                </a:solidFill>
                <a:latin typeface="Calibri" panose="020F0502020204030204" pitchFamily="34" charset="0"/>
              </a:rPr>
              <a:t>Kiến trúc độc đáo, chứng kiến lễ cúng buổi chiều.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BFD09E-188E-2FF9-662D-4EA4A8CD9F38}"/>
              </a:ext>
            </a:extLst>
          </p:cNvPr>
          <p:cNvSpPr/>
          <p:nvPr/>
        </p:nvSpPr>
        <p:spPr>
          <a:xfrm>
            <a:off x="95377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🌅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70D448-CD2D-966C-B07F-861E4CFBFF05}"/>
              </a:ext>
            </a:extLst>
          </p:cNvPr>
          <p:cNvSpPr txBox="1"/>
          <p:nvPr/>
        </p:nvSpPr>
        <p:spPr>
          <a:xfrm>
            <a:off x="87884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17:00–20:00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870B09-1883-B5F7-58BB-75A830DC5642}"/>
              </a:ext>
            </a:extLst>
          </p:cNvPr>
          <p:cNvSpPr txBox="1"/>
          <p:nvPr/>
        </p:nvSpPr>
        <p:spPr>
          <a:xfrm>
            <a:off x="87884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Về TP.HCM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EEB6B1-2D0B-6921-C1C7-287F3BB9D753}"/>
              </a:ext>
            </a:extLst>
          </p:cNvPr>
          <p:cNvSpPr txBox="1"/>
          <p:nvPr/>
        </p:nvSpPr>
        <p:spPr>
          <a:xfrm>
            <a:off x="87884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AA9473"/>
                </a:solidFill>
                <a:latin typeface="Calibri" panose="020F0502020204030204" pitchFamily="34" charset="0"/>
              </a:rPr>
              <a:t>Di chuyển về thành phố, mang theo kỷ niệm đẹp.</a:t>
            </a:r>
          </a:p>
        </p:txBody>
      </p:sp>
    </p:spTree>
    <p:extLst>
      <p:ext uri="{BB962C8B-B14F-4D97-AF65-F5344CB8AC3E}">
        <p14:creationId xmlns:p14="http://schemas.microsoft.com/office/powerpoint/2010/main" val="3585821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5 -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C302EC-4D1B-AA7C-8387-0E5941BCE89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F4445-62EF-602D-6582-CE22092D89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8F36A6-7D4B-6EBC-E7CC-55EF4BCF9970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5 /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3AC3C-E887-191F-2F38-40A862442779}"/>
              </a:ext>
            </a:extLst>
          </p:cNvPr>
          <p:cNvSpPr txBox="1"/>
          <p:nvPr/>
        </p:nvSpPr>
        <p:spPr>
          <a:xfrm>
            <a:off x="508000" y="4064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DỊCH VỤ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A1FCB-CF23-529E-7340-2F5D69104B7B}"/>
              </a:ext>
            </a:extLst>
          </p:cNvPr>
          <p:cNvSpPr txBox="1"/>
          <p:nvPr/>
        </p:nvSpPr>
        <p:spPr>
          <a:xfrm>
            <a:off x="508000" y="635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Trải nghiệm khác biệt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8328B7-BCBF-917E-96D5-445168EBF68D}"/>
              </a:ext>
            </a:extLst>
          </p:cNvPr>
          <p:cNvSpPr/>
          <p:nvPr/>
        </p:nvSpPr>
        <p:spPr>
          <a:xfrm>
            <a:off x="508000" y="13970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04982-22C8-8576-CF42-67CC9AEFB646}"/>
              </a:ext>
            </a:extLst>
          </p:cNvPr>
          <p:cNvSpPr txBox="1"/>
          <p:nvPr/>
        </p:nvSpPr>
        <p:spPr>
          <a:xfrm>
            <a:off x="3733800" y="14986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9EDEF0-42E6-125F-0C28-DE643DC131D5}"/>
              </a:ext>
            </a:extLst>
          </p:cNvPr>
          <p:cNvSpPr txBox="1"/>
          <p:nvPr/>
        </p:nvSpPr>
        <p:spPr>
          <a:xfrm>
            <a:off x="660400" y="19050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Lịch Trình Riêng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45D58-CFCD-5B44-F1DF-8C4ED5A3DED6}"/>
              </a:ext>
            </a:extLst>
          </p:cNvPr>
          <p:cNvSpPr txBox="1"/>
          <p:nvPr/>
        </p:nvSpPr>
        <p:spPr>
          <a:xfrm>
            <a:off x="660400" y="22352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A58C69"/>
                </a:solidFill>
                <a:latin typeface="Calibri" panose="020F0502020204030204" pitchFamily="34" charset="0"/>
              </a:rPr>
              <a:t>Cá nhân hóa toàn bộ — thời gian, điểm dừng, phong cách theo ý bạn.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63630A-5D57-9374-1FDC-A1F956E8DD4A}"/>
              </a:ext>
            </a:extLst>
          </p:cNvPr>
          <p:cNvSpPr/>
          <p:nvPr/>
        </p:nvSpPr>
        <p:spPr>
          <a:xfrm>
            <a:off x="4343400" y="13970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570A7-E1F2-59EA-D07E-0AEC658AB329}"/>
              </a:ext>
            </a:extLst>
          </p:cNvPr>
          <p:cNvSpPr txBox="1"/>
          <p:nvPr/>
        </p:nvSpPr>
        <p:spPr>
          <a:xfrm>
            <a:off x="7569200" y="14986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15DD77-F5C4-ECD5-4995-F202F3A9C54F}"/>
              </a:ext>
            </a:extLst>
          </p:cNvPr>
          <p:cNvSpPr txBox="1"/>
          <p:nvPr/>
        </p:nvSpPr>
        <p:spPr>
          <a:xfrm>
            <a:off x="4495800" y="19050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Trải Nghiệm Độc Quyền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07B9CA-705F-A6DC-507C-C2C93295BEF4}"/>
              </a:ext>
            </a:extLst>
          </p:cNvPr>
          <p:cNvSpPr txBox="1"/>
          <p:nvPr/>
        </p:nvSpPr>
        <p:spPr>
          <a:xfrm>
            <a:off x="4495800" y="2235200"/>
            <a:ext cx="337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A58C69"/>
                </a:solidFill>
                <a:latin typeface="Calibri" panose="020F0502020204030204" pitchFamily="34" charset="0"/>
              </a:rPr>
              <a:t>Thiền sáng sớm tại chân núi, nghi lễ cầu an riêng tư.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4102D6-BF0B-BF42-74B2-C3BD8596FB05}"/>
              </a:ext>
            </a:extLst>
          </p:cNvPr>
          <p:cNvSpPr/>
          <p:nvPr/>
        </p:nvSpPr>
        <p:spPr>
          <a:xfrm>
            <a:off x="8178800" y="13970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4F36B-5425-7D5D-E936-AE4CCB4834F1}"/>
              </a:ext>
            </a:extLst>
          </p:cNvPr>
          <p:cNvSpPr txBox="1"/>
          <p:nvPr/>
        </p:nvSpPr>
        <p:spPr>
          <a:xfrm>
            <a:off x="11404600" y="14986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72BF14-A1F6-3E2C-735C-D6AA27BE63C7}"/>
              </a:ext>
            </a:extLst>
          </p:cNvPr>
          <p:cNvSpPr txBox="1"/>
          <p:nvPr/>
        </p:nvSpPr>
        <p:spPr>
          <a:xfrm>
            <a:off x="8331200" y="19050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Trekking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B88209-92EA-3DBC-DD15-C9EA1C0716AC}"/>
              </a:ext>
            </a:extLst>
          </p:cNvPr>
          <p:cNvSpPr txBox="1"/>
          <p:nvPr/>
        </p:nvSpPr>
        <p:spPr>
          <a:xfrm>
            <a:off x="8331200" y="22352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A58C69"/>
                </a:solidFill>
                <a:latin typeface="Calibri" panose="020F0502020204030204" pitchFamily="34" charset="0"/>
              </a:rPr>
              <a:t>Chinh phục Núi Bà Đen, khám phá Vườn QG qua đường rừng nguyên sinh.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D6B8EB-2BC0-121A-4E61-7C51582330A6}"/>
              </a:ext>
            </a:extLst>
          </p:cNvPr>
          <p:cNvSpPr/>
          <p:nvPr/>
        </p:nvSpPr>
        <p:spPr>
          <a:xfrm>
            <a:off x="508000" y="28702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F8861C-111D-15A8-1149-7E12BF064CFD}"/>
              </a:ext>
            </a:extLst>
          </p:cNvPr>
          <p:cNvSpPr txBox="1"/>
          <p:nvPr/>
        </p:nvSpPr>
        <p:spPr>
          <a:xfrm>
            <a:off x="3733800" y="29718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D6F8F9-6BD7-92F1-003F-EAF58E843FA8}"/>
              </a:ext>
            </a:extLst>
          </p:cNvPr>
          <p:cNvSpPr txBox="1"/>
          <p:nvPr/>
        </p:nvSpPr>
        <p:spPr>
          <a:xfrm>
            <a:off x="660400" y="33782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Photo Tour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845D9B-4228-DE77-EE31-AF0BF6ACE632}"/>
              </a:ext>
            </a:extLst>
          </p:cNvPr>
          <p:cNvSpPr txBox="1"/>
          <p:nvPr/>
        </p:nvSpPr>
        <p:spPr>
          <a:xfrm>
            <a:off x="660400" y="3708400"/>
            <a:ext cx="337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A58C69"/>
                </a:solidFill>
                <a:latin typeface="Calibri" panose="020F0502020204030204" pitchFamily="34" charset="0"/>
              </a:rPr>
              <a:t>Săn bình minh trên đỉnh với hướng dẫn nhiếp ảnh chuyên nghiệp.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4A5B160-0353-1079-27E3-A24CD3C6DB0F}"/>
              </a:ext>
            </a:extLst>
          </p:cNvPr>
          <p:cNvSpPr/>
          <p:nvPr/>
        </p:nvSpPr>
        <p:spPr>
          <a:xfrm>
            <a:off x="4343400" y="28702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2478C4-54CF-3297-25E1-ABA20953A37F}"/>
              </a:ext>
            </a:extLst>
          </p:cNvPr>
          <p:cNvSpPr txBox="1"/>
          <p:nvPr/>
        </p:nvSpPr>
        <p:spPr>
          <a:xfrm>
            <a:off x="7569200" y="29718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FB5E4B-4C0F-3456-2768-7CF2BFC7B169}"/>
              </a:ext>
            </a:extLst>
          </p:cNvPr>
          <p:cNvSpPr txBox="1"/>
          <p:nvPr/>
        </p:nvSpPr>
        <p:spPr>
          <a:xfrm>
            <a:off x="4495800" y="33782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Food &amp; Culture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F40ACF-2CD5-6976-657B-70F9ADC43319}"/>
              </a:ext>
            </a:extLst>
          </p:cNvPr>
          <p:cNvSpPr txBox="1"/>
          <p:nvPr/>
        </p:nvSpPr>
        <p:spPr>
          <a:xfrm>
            <a:off x="4495800" y="3708400"/>
            <a:ext cx="337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A58C69"/>
                </a:solidFill>
                <a:latin typeface="Calibri" panose="020F0502020204030204" pitchFamily="34" charset="0"/>
              </a:rPr>
              <a:t>Bánh canh Trảng Bàng, muối ớt Tây Ninh — hành trình ẩm thực.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9634C2C-02EA-1609-FA9E-D65A57994AC9}"/>
              </a:ext>
            </a:extLst>
          </p:cNvPr>
          <p:cNvSpPr/>
          <p:nvPr/>
        </p:nvSpPr>
        <p:spPr>
          <a:xfrm>
            <a:off x="8178800" y="28702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0DB308-8262-A916-7509-182BA3DB6F5D}"/>
              </a:ext>
            </a:extLst>
          </p:cNvPr>
          <p:cNvSpPr txBox="1"/>
          <p:nvPr/>
        </p:nvSpPr>
        <p:spPr>
          <a:xfrm>
            <a:off x="11404600" y="29718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270E2A-7F9D-7707-812B-5D3E10CBE06B}"/>
              </a:ext>
            </a:extLst>
          </p:cNvPr>
          <p:cNvSpPr txBox="1"/>
          <p:nvPr/>
        </p:nvSpPr>
        <p:spPr>
          <a:xfrm>
            <a:off x="8331200" y="33782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Off The Beaten Path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B9D987-E1EB-6A3E-7359-7FB61C275034}"/>
              </a:ext>
            </a:extLst>
          </p:cNvPr>
          <p:cNvSpPr txBox="1"/>
          <p:nvPr/>
        </p:nvSpPr>
        <p:spPr>
          <a:xfrm>
            <a:off x="8331200" y="3708400"/>
            <a:ext cx="337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A58C69"/>
                </a:solidFill>
                <a:latin typeface="Calibri" panose="020F0502020204030204" pitchFamily="34" charset="0"/>
              </a:rPr>
              <a:t>Chùa ẩn trong rừng, suối hoang sơ chỉ người địa phương mới biết.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92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6 -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E879AB-C59E-67DC-AD63-2E7B530713C6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8CBC9-CB57-11D8-BD9A-84FD82A313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74736B-A4F4-40E2-74E6-22E29C44E666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6 /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DE385-DCBF-24CF-C1E6-02A1E86C35E3}"/>
              </a:ext>
            </a:extLst>
          </p:cNvPr>
          <p:cNvSpPr txBox="1"/>
          <p:nvPr/>
        </p:nvSpPr>
        <p:spPr>
          <a:xfrm>
            <a:off x="508000" y="406400"/>
            <a:ext cx="381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00">
                <a:solidFill>
                  <a:srgbClr val="F0B955"/>
                </a:solidFill>
                <a:latin typeface="Calibri" panose="020F0502020204030204" pitchFamily="34" charset="0"/>
              </a:rPr>
              <a:t>THƯ VIỆN ẢNH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B4AEB0-F949-4B20-6610-745D939FCB96}"/>
              </a:ext>
            </a:extLst>
          </p:cNvPr>
          <p:cNvSpPr txBox="1"/>
          <p:nvPr/>
        </p:nvSpPr>
        <p:spPr>
          <a:xfrm>
            <a:off x="508000" y="635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Nhìn từ góc nhìn khác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2AFC9E-46A8-9284-C47F-9DFB177B70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71600"/>
            <a:ext cx="2857500" cy="4953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13690A-9393-9BA8-1C8C-AB2AAC63B01E}"/>
              </a:ext>
            </a:extLst>
          </p:cNvPr>
          <p:cNvSpPr/>
          <p:nvPr/>
        </p:nvSpPr>
        <p:spPr>
          <a:xfrm>
            <a:off x="508000" y="5791200"/>
            <a:ext cx="28575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FA028-C6E1-1ECF-E915-B5E58805C44C}"/>
              </a:ext>
            </a:extLst>
          </p:cNvPr>
          <p:cNvSpPr txBox="1"/>
          <p:nvPr/>
        </p:nvSpPr>
        <p:spPr>
          <a:xfrm>
            <a:off x="584200" y="5816600"/>
            <a:ext cx="27051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Núi Bà Đen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F016F-0A8F-F274-B3B1-48F369E35582}"/>
              </a:ext>
            </a:extLst>
          </p:cNvPr>
          <p:cNvSpPr txBox="1"/>
          <p:nvPr/>
        </p:nvSpPr>
        <p:spPr>
          <a:xfrm>
            <a:off x="584200" y="5994400"/>
            <a:ext cx="27051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100" b="1">
                <a:solidFill>
                  <a:srgbClr val="FFFFFF"/>
                </a:solidFill>
              </a:rPr>
              <a:t>Tượng Phật Bà Quan Âm</a:t>
            </a:r>
            <a:endParaRPr lang="en-US" sz="11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11FC5C-9B82-917D-DC9A-8A374112B1B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1371600"/>
            <a:ext cx="2413000" cy="4953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BDE328B-F69C-0B6A-82EC-FBCD3A63B214}"/>
              </a:ext>
            </a:extLst>
          </p:cNvPr>
          <p:cNvSpPr/>
          <p:nvPr/>
        </p:nvSpPr>
        <p:spPr>
          <a:xfrm>
            <a:off x="3467100" y="5791200"/>
            <a:ext cx="24130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4C096A-1DAE-3AB6-BC59-1023F7BB296A}"/>
              </a:ext>
            </a:extLst>
          </p:cNvPr>
          <p:cNvSpPr txBox="1"/>
          <p:nvPr/>
        </p:nvSpPr>
        <p:spPr>
          <a:xfrm>
            <a:off x="3543300" y="5816600"/>
            <a:ext cx="22606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Núi Bà Đen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C2786E-0132-5112-45B2-36E2B7DF60DF}"/>
              </a:ext>
            </a:extLst>
          </p:cNvPr>
          <p:cNvSpPr txBox="1"/>
          <p:nvPr/>
        </p:nvSpPr>
        <p:spPr>
          <a:xfrm>
            <a:off x="3543300" y="5994400"/>
            <a:ext cx="22606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100" b="1">
                <a:solidFill>
                  <a:srgbClr val="FFFFFF"/>
                </a:solidFill>
              </a:rPr>
              <a:t>Tượng Di Lặc Bồ Tát</a:t>
            </a:r>
            <a:endParaRPr lang="en-US" sz="11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1826B2-0401-5C78-E7B5-E3BBEE2C6127}"/>
              </a:ext>
            </a:extLst>
          </p:cNvPr>
          <p:cNvSpPr/>
          <p:nvPr/>
        </p:nvSpPr>
        <p:spPr>
          <a:xfrm>
            <a:off x="5981700" y="1371600"/>
            <a:ext cx="1968500" cy="23876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D4761D-AE38-5963-177C-A4025FDE4117}"/>
              </a:ext>
            </a:extLst>
          </p:cNvPr>
          <p:cNvSpPr/>
          <p:nvPr/>
        </p:nvSpPr>
        <p:spPr>
          <a:xfrm>
            <a:off x="5981700" y="3225800"/>
            <a:ext cx="19685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EBFA8F-1EC6-8274-BB17-B82192851BFE}"/>
              </a:ext>
            </a:extLst>
          </p:cNvPr>
          <p:cNvSpPr txBox="1"/>
          <p:nvPr/>
        </p:nvSpPr>
        <p:spPr>
          <a:xfrm>
            <a:off x="6057900" y="3251200"/>
            <a:ext cx="18161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Tòa Thánh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4E0B65-2FE7-39B9-57EA-CB6BB971C056}"/>
              </a:ext>
            </a:extLst>
          </p:cNvPr>
          <p:cNvSpPr txBox="1"/>
          <p:nvPr/>
        </p:nvSpPr>
        <p:spPr>
          <a:xfrm>
            <a:off x="6057900" y="3429000"/>
            <a:ext cx="18161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Georgia" panose="02040502050405020303" pitchFamily="18" charset="0"/>
              </a:rPr>
              <a:t>Cao Đài Thánh Địa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C21646-0B5B-2F3A-7671-0FD6836B15EE}"/>
              </a:ext>
            </a:extLst>
          </p:cNvPr>
          <p:cNvSpPr/>
          <p:nvPr/>
        </p:nvSpPr>
        <p:spPr>
          <a:xfrm>
            <a:off x="8051800" y="1371600"/>
            <a:ext cx="1778000" cy="23876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69D25C-7571-E4FD-60F5-BBFCF4F054F5}"/>
              </a:ext>
            </a:extLst>
          </p:cNvPr>
          <p:cNvSpPr/>
          <p:nvPr/>
        </p:nvSpPr>
        <p:spPr>
          <a:xfrm>
            <a:off x="8051800" y="3225800"/>
            <a:ext cx="17780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C58116-0AF1-2F3E-0B23-C4A3530BA8B0}"/>
              </a:ext>
            </a:extLst>
          </p:cNvPr>
          <p:cNvSpPr txBox="1"/>
          <p:nvPr/>
        </p:nvSpPr>
        <p:spPr>
          <a:xfrm>
            <a:off x="8128000" y="3251200"/>
            <a:ext cx="16256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Tây Ninh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813733-961B-EABC-C047-DCE36219F0AD}"/>
              </a:ext>
            </a:extLst>
          </p:cNvPr>
          <p:cNvSpPr txBox="1"/>
          <p:nvPr/>
        </p:nvSpPr>
        <p:spPr>
          <a:xfrm>
            <a:off x="8128000" y="3429000"/>
            <a:ext cx="16256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Georgia" panose="02040502050405020303" pitchFamily="18" charset="0"/>
              </a:rPr>
              <a:t>Hồ Dầu Tiếng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6FED16-756F-D79B-8281-FFA68C4A7E40}"/>
              </a:ext>
            </a:extLst>
          </p:cNvPr>
          <p:cNvSpPr/>
          <p:nvPr/>
        </p:nvSpPr>
        <p:spPr>
          <a:xfrm>
            <a:off x="9931400" y="1371600"/>
            <a:ext cx="1752600" cy="23876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F62D60-BB8E-C2C0-6C33-6BF7610BC0F4}"/>
              </a:ext>
            </a:extLst>
          </p:cNvPr>
          <p:cNvSpPr/>
          <p:nvPr/>
        </p:nvSpPr>
        <p:spPr>
          <a:xfrm>
            <a:off x="9931400" y="3225800"/>
            <a:ext cx="17526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3D47E5-C11E-A949-34F3-6DF905B76C3A}"/>
              </a:ext>
            </a:extLst>
          </p:cNvPr>
          <p:cNvSpPr txBox="1"/>
          <p:nvPr/>
        </p:nvSpPr>
        <p:spPr>
          <a:xfrm>
            <a:off x="10007600" y="3251200"/>
            <a:ext cx="16002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700">
                <a:solidFill>
                  <a:srgbClr val="F0B955"/>
                </a:solidFill>
                <a:latin typeface="Calibri" panose="020F0502020204030204" pitchFamily="34" charset="0"/>
              </a:rPr>
              <a:t>Vườn QG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F91F35-9CF6-2EC2-BE91-F62C654D4048}"/>
              </a:ext>
            </a:extLst>
          </p:cNvPr>
          <p:cNvSpPr txBox="1"/>
          <p:nvPr/>
        </p:nvSpPr>
        <p:spPr>
          <a:xfrm>
            <a:off x="10007600" y="3429000"/>
            <a:ext cx="1600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Georgia" panose="02040502050405020303" pitchFamily="18" charset="0"/>
              </a:rPr>
              <a:t>Rừng Lò Gò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5AF4C1-0D16-92C3-57D2-931EABA17967}"/>
              </a:ext>
            </a:extLst>
          </p:cNvPr>
          <p:cNvSpPr/>
          <p:nvPr/>
        </p:nvSpPr>
        <p:spPr>
          <a:xfrm>
            <a:off x="5981700" y="3860800"/>
            <a:ext cx="5702300" cy="24638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6E82A7-8FC7-2040-7BE5-5D2D92967160}"/>
              </a:ext>
            </a:extLst>
          </p:cNvPr>
          <p:cNvSpPr/>
          <p:nvPr/>
        </p:nvSpPr>
        <p:spPr>
          <a:xfrm>
            <a:off x="5981700" y="5791200"/>
            <a:ext cx="57023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45BC9B-23CF-81F5-5FA6-FAD0AC693BE7}"/>
              </a:ext>
            </a:extLst>
          </p:cNvPr>
          <p:cNvSpPr txBox="1"/>
          <p:nvPr/>
        </p:nvSpPr>
        <p:spPr>
          <a:xfrm>
            <a:off x="6057900" y="5816600"/>
            <a:ext cx="55499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Ẩm Thực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5BF6A5-BCFD-0B5B-2622-5C565D3BDDCE}"/>
              </a:ext>
            </a:extLst>
          </p:cNvPr>
          <p:cNvSpPr txBox="1"/>
          <p:nvPr/>
        </p:nvSpPr>
        <p:spPr>
          <a:xfrm>
            <a:off x="6057900" y="5994400"/>
            <a:ext cx="55499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Georgia" panose="02040502050405020303" pitchFamily="18" charset="0"/>
              </a:rPr>
              <a:t>Bánh Canh Trảng Bàng</a:t>
            </a:r>
          </a:p>
        </p:txBody>
      </p:sp>
    </p:spTree>
    <p:extLst>
      <p:ext uri="{BB962C8B-B14F-4D97-AF65-F5344CB8AC3E}">
        <p14:creationId xmlns:p14="http://schemas.microsoft.com/office/powerpoint/2010/main" val="214838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7 - Manif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18824E-9875-8010-1F18-A197F2E2D9C2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7C056-AE17-EE7B-DB67-D90B0E3D4D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800"/>
            <a:ext cx="1905000" cy="38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1EF4A6-4B5C-4FC8-379A-1B4E0541DEB2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967850"/>
                </a:solidFill>
                <a:latin typeface="Calibri" panose="020F0502020204030204" pitchFamily="34" charset="0"/>
              </a:rPr>
              <a:t>7 /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39B00-62A9-0C4F-39D3-BED587728D39}"/>
              </a:ext>
            </a:extLst>
          </p:cNvPr>
          <p:cNvSpPr txBox="1"/>
          <p:nvPr/>
        </p:nvSpPr>
        <p:spPr>
          <a:xfrm>
            <a:off x="508000" y="5588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C9853A"/>
                </a:solidFill>
                <a:latin typeface="Calibri" panose="020F0502020204030204" pitchFamily="34" charset="0"/>
              </a:rPr>
              <a:t>TRIẾT LÝ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2398E-078A-CEA2-B606-6C226A0F2C30}"/>
              </a:ext>
            </a:extLst>
          </p:cNvPr>
          <p:cNvSpPr txBox="1"/>
          <p:nvPr/>
        </p:nvSpPr>
        <p:spPr>
          <a:xfrm>
            <a:off x="508000" y="787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>
                <a:solidFill>
                  <a:srgbClr val="2C2015"/>
                </a:solidFill>
                <a:latin typeface="Georgia" panose="02040502050405020303" pitchFamily="18" charset="0"/>
              </a:rPr>
              <a:t>Chúng tôi tin vào sức mạnh của sự tĩnh lặng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BA0D5B-9D72-F6D7-F062-17A80F60075C}"/>
              </a:ext>
            </a:extLst>
          </p:cNvPr>
          <p:cNvCxnSpPr/>
          <p:nvPr/>
        </p:nvCxnSpPr>
        <p:spPr>
          <a:xfrm>
            <a:off x="4826000" y="1473200"/>
            <a:ext cx="2540000" cy="0"/>
          </a:xfrm>
          <a:prstGeom prst="line">
            <a:avLst/>
          </a:prstGeom>
          <a:ln w="12700">
            <a:solidFill>
              <a:srgbClr val="C98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8A54F2-CFDE-1518-1F02-E6CE6495A9BF}"/>
              </a:ext>
            </a:extLst>
          </p:cNvPr>
          <p:cNvSpPr txBox="1"/>
          <p:nvPr/>
        </p:nvSpPr>
        <p:spPr>
          <a:xfrm>
            <a:off x="1016000" y="16256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vi-VN" sz="1700">
                <a:solidFill>
                  <a:srgbClr val="2C2015"/>
                </a:solidFill>
              </a:rPr>
              <a:t>"Không phải nơi nào cũng có thể chữa lành — nhưng Tây Ninh có.
Giữa làn khói nhang và tiếng chuông ngân, bạn sẽ tìm lại chính mình."</a:t>
            </a:r>
            <a:endParaRPr lang="en-US" sz="1700">
              <a:solidFill>
                <a:srgbClr val="2C2015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851558-0D58-AD43-B6E5-8926C94937D3}"/>
              </a:ext>
            </a:extLst>
          </p:cNvPr>
          <p:cNvSpPr txBox="1"/>
          <p:nvPr/>
        </p:nvSpPr>
        <p:spPr>
          <a:xfrm>
            <a:off x="1016000" y="3073400"/>
            <a:ext cx="1016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>
                <a:solidFill>
                  <a:srgbClr val="C9853A"/>
                </a:solidFill>
                <a:latin typeface="Calibri" panose="020F0502020204030204" pitchFamily="34" charset="0"/>
              </a:rPr>
              <a:t>— V Holiday Tour, từ 2012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BCE878-8F07-7816-1693-8E840400CAB8}"/>
              </a:ext>
            </a:extLst>
          </p:cNvPr>
          <p:cNvSpPr/>
          <p:nvPr/>
        </p:nvSpPr>
        <p:spPr>
          <a:xfrm>
            <a:off x="825500" y="3683000"/>
            <a:ext cx="2540000" cy="1219200"/>
          </a:xfrm>
          <a:prstGeom prst="roundRect">
            <a:avLst/>
          </a:prstGeom>
          <a:solidFill>
            <a:srgbClr val="C9853A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2EB5B2-0C8A-6C00-D1F7-D803C3B8BABE}"/>
              </a:ext>
            </a:extLst>
          </p:cNvPr>
          <p:cNvSpPr txBox="1"/>
          <p:nvPr/>
        </p:nvSpPr>
        <p:spPr>
          <a:xfrm>
            <a:off x="927100" y="3759200"/>
            <a:ext cx="2362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503719"/>
                </a:solidFill>
                <a:latin typeface="Calibri" panose="020F0502020204030204" pitchFamily="34" charset="0"/>
              </a:rPr>
              <a:t>🌿  </a:t>
            </a:r>
            <a:r>
              <a:rPr lang="vi-VN" sz="900">
                <a:solidFill>
                  <a:srgbClr val="503719"/>
                </a:solidFill>
                <a:latin typeface="Calibri" panose="020F0502020204030204" pitchFamily="34" charset="0"/>
              </a:rPr>
              <a:t>Tôn trọng không gian thiêng liêng và văn hóa địa phương</a:t>
            </a:r>
            <a:endParaRPr lang="en-US" sz="900">
              <a:solidFill>
                <a:srgbClr val="503719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0EEE6C-9E16-D82C-4D72-4FAE6A4F4C01}"/>
              </a:ext>
            </a:extLst>
          </p:cNvPr>
          <p:cNvSpPr/>
          <p:nvPr/>
        </p:nvSpPr>
        <p:spPr>
          <a:xfrm>
            <a:off x="3543300" y="3683000"/>
            <a:ext cx="2540000" cy="1219200"/>
          </a:xfrm>
          <a:prstGeom prst="roundRect">
            <a:avLst/>
          </a:prstGeom>
          <a:solidFill>
            <a:srgbClr val="C9853A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F1314D-45DC-6594-8B4B-42E6515B485B}"/>
              </a:ext>
            </a:extLst>
          </p:cNvPr>
          <p:cNvSpPr txBox="1"/>
          <p:nvPr/>
        </p:nvSpPr>
        <p:spPr>
          <a:xfrm>
            <a:off x="3644900" y="3759200"/>
            <a:ext cx="2362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503719"/>
                </a:solidFill>
                <a:latin typeface="Calibri" panose="020F0502020204030204" pitchFamily="34" charset="0"/>
              </a:rPr>
              <a:t>🤝  Kết nối chân thực với cộng đồng Cao Đài bản địa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3772F2-BF9A-A196-134A-96D9BF96A673}"/>
              </a:ext>
            </a:extLst>
          </p:cNvPr>
          <p:cNvSpPr/>
          <p:nvPr/>
        </p:nvSpPr>
        <p:spPr>
          <a:xfrm>
            <a:off x="6261100" y="3683000"/>
            <a:ext cx="2540000" cy="1219200"/>
          </a:xfrm>
          <a:prstGeom prst="roundRect">
            <a:avLst/>
          </a:prstGeom>
          <a:solidFill>
            <a:srgbClr val="C9853A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148DA-6BFD-0048-002E-24E1489A78D1}"/>
              </a:ext>
            </a:extLst>
          </p:cNvPr>
          <p:cNvSpPr txBox="1"/>
          <p:nvPr/>
        </p:nvSpPr>
        <p:spPr>
          <a:xfrm>
            <a:off x="6362700" y="3759200"/>
            <a:ext cx="2362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503719"/>
                </a:solidFill>
                <a:latin typeface="Calibri" panose="020F0502020204030204" pitchFamily="34" charset="0"/>
              </a:rPr>
              <a:t>💡  </a:t>
            </a:r>
            <a:r>
              <a:rPr lang="vi-VN" sz="900">
                <a:solidFill>
                  <a:srgbClr val="503719"/>
                </a:solidFill>
                <a:latin typeface="Calibri" panose="020F0502020204030204" pitchFamily="34" charset="0"/>
              </a:rPr>
              <a:t>Hướng dẫn viên am hiểu lịch sử và tâm linh Tây Ninh</a:t>
            </a:r>
            <a:endParaRPr lang="en-US" sz="900">
              <a:solidFill>
                <a:srgbClr val="503719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9AC1C35-36A0-2678-6742-68D40FD40BB5}"/>
              </a:ext>
            </a:extLst>
          </p:cNvPr>
          <p:cNvSpPr/>
          <p:nvPr/>
        </p:nvSpPr>
        <p:spPr>
          <a:xfrm>
            <a:off x="8978900" y="3683000"/>
            <a:ext cx="2540000" cy="1219200"/>
          </a:xfrm>
          <a:prstGeom prst="roundRect">
            <a:avLst/>
          </a:prstGeom>
          <a:solidFill>
            <a:srgbClr val="C9853A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0A32F6-E3C6-8823-F2FA-9A11748BA92D}"/>
              </a:ext>
            </a:extLst>
          </p:cNvPr>
          <p:cNvSpPr txBox="1"/>
          <p:nvPr/>
        </p:nvSpPr>
        <p:spPr>
          <a:xfrm>
            <a:off x="9080500" y="3759200"/>
            <a:ext cx="2362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503719"/>
                </a:solidFill>
                <a:latin typeface="Calibri" panose="020F0502020204030204" pitchFamily="34" charset="0"/>
              </a:rPr>
              <a:t>🛡️  </a:t>
            </a:r>
            <a:r>
              <a:rPr lang="vi-VN" sz="900">
                <a:solidFill>
                  <a:srgbClr val="503719"/>
                </a:solidFill>
                <a:latin typeface="Calibri" panose="020F0502020204030204" pitchFamily="34" charset="0"/>
              </a:rPr>
              <a:t>Hỗ trợ 24/7, an toàn là ưu tiên hàng đầu</a:t>
            </a:r>
            <a:endParaRPr lang="en-US" sz="900">
              <a:solidFill>
                <a:srgbClr val="50371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05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8 - 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E18595-3D6C-D4D2-0291-7F5124403824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11981-8DC1-1C4D-BC55-A9189215FC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14C620-951C-5A88-49FD-6D7E1539C72C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8 /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E753D-E843-5CE2-1281-BD1900198313}"/>
              </a:ext>
            </a:extLst>
          </p:cNvPr>
          <p:cNvSpPr txBox="1"/>
          <p:nvPr/>
        </p:nvSpPr>
        <p:spPr>
          <a:xfrm>
            <a:off x="508000" y="4064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CẢM NHẬN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B602F-F39F-58B3-BD4C-A94D9B0CB487}"/>
              </a:ext>
            </a:extLst>
          </p:cNvPr>
          <p:cNvSpPr txBox="1"/>
          <p:nvPr/>
        </p:nvSpPr>
        <p:spPr>
          <a:xfrm>
            <a:off x="508000" y="635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Lữ khách nói gì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6996D9-668F-2A15-5466-E79863F5F0E9}"/>
              </a:ext>
            </a:extLst>
          </p:cNvPr>
          <p:cNvSpPr/>
          <p:nvPr/>
        </p:nvSpPr>
        <p:spPr>
          <a:xfrm>
            <a:off x="508000" y="13970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C8548-6D28-9E3D-B20B-0DA0627D95B3}"/>
              </a:ext>
            </a:extLst>
          </p:cNvPr>
          <p:cNvSpPr txBox="1"/>
          <p:nvPr/>
        </p:nvSpPr>
        <p:spPr>
          <a:xfrm>
            <a:off x="635000" y="1498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7D8F9-7070-21BC-8618-BA0DDF94DB4F}"/>
              </a:ext>
            </a:extLst>
          </p:cNvPr>
          <p:cNvSpPr txBox="1"/>
          <p:nvPr/>
        </p:nvSpPr>
        <p:spPr>
          <a:xfrm>
            <a:off x="635000" y="1752600"/>
            <a:ext cx="19304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CDBCA8"/>
                </a:solidFill>
              </a:rPr>
              <a:t>"Bình minh trên đỉnh núi, tiếng chuông chùa vang vọng — tôi chưa bao giờ cảm thấy bình yên đến vậy."</a:t>
            </a:r>
            <a:endParaRPr lang="en-US" sz="900">
              <a:solidFill>
                <a:srgbClr val="CDBCA8"/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1A72F8-7680-1770-CC11-9E6A8435D04D}"/>
              </a:ext>
            </a:extLst>
          </p:cNvPr>
          <p:cNvCxnSpPr/>
          <p:nvPr/>
        </p:nvCxnSpPr>
        <p:spPr>
          <a:xfrm>
            <a:off x="635000" y="27940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1AA950-0713-DFB4-3C83-BE47EB981A59}"/>
              </a:ext>
            </a:extLst>
          </p:cNvPr>
          <p:cNvSpPr txBox="1"/>
          <p:nvPr/>
        </p:nvSpPr>
        <p:spPr>
          <a:xfrm>
            <a:off x="635000" y="2844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Nguyễn Thị Lan Anh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67779-63E4-B7C5-9684-15AB3F6B0D72}"/>
              </a:ext>
            </a:extLst>
          </p:cNvPr>
          <p:cNvSpPr txBox="1"/>
          <p:nvPr/>
        </p:nvSpPr>
        <p:spPr>
          <a:xfrm>
            <a:off x="635000" y="30734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91734B"/>
                </a:solidFill>
                <a:latin typeface="Calibri" panose="020F0502020204030204" pitchFamily="34" charset="0"/>
              </a:rPr>
              <a:t>TP. Hồ Chí Minh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E8331B-B97B-20ED-53FD-32888D97AE61}"/>
              </a:ext>
            </a:extLst>
          </p:cNvPr>
          <p:cNvSpPr/>
          <p:nvPr/>
        </p:nvSpPr>
        <p:spPr>
          <a:xfrm>
            <a:off x="2806700" y="13970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EC4CE0-4297-499C-CAE9-F131A2E6FF48}"/>
              </a:ext>
            </a:extLst>
          </p:cNvPr>
          <p:cNvSpPr txBox="1"/>
          <p:nvPr/>
        </p:nvSpPr>
        <p:spPr>
          <a:xfrm>
            <a:off x="2933700" y="1498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86A006-5437-48FB-ABFA-85316DCB24A6}"/>
              </a:ext>
            </a:extLst>
          </p:cNvPr>
          <p:cNvSpPr txBox="1"/>
          <p:nvPr/>
        </p:nvSpPr>
        <p:spPr>
          <a:xfrm>
            <a:off x="2933700" y="1752600"/>
            <a:ext cx="19304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CDBCA8"/>
                </a:solidFill>
              </a:rPr>
              <a:t>"Hướng dẫn viên rất am hiểu về lịch sử Cao Đài. Ở lại xem lễ cúng chiều — không thể rời đi!"</a:t>
            </a:r>
            <a:endParaRPr lang="en-US" sz="900">
              <a:solidFill>
                <a:srgbClr val="CDBCA8"/>
              </a:solidFill>
              <a:latin typeface="Georgia" panose="02040502050405020303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C4CA80-2111-ED06-7360-4A0F6348C268}"/>
              </a:ext>
            </a:extLst>
          </p:cNvPr>
          <p:cNvCxnSpPr/>
          <p:nvPr/>
        </p:nvCxnSpPr>
        <p:spPr>
          <a:xfrm>
            <a:off x="2933700" y="27940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279898-CF58-E816-8357-5F33FCFC02E2}"/>
              </a:ext>
            </a:extLst>
          </p:cNvPr>
          <p:cNvSpPr txBox="1"/>
          <p:nvPr/>
        </p:nvSpPr>
        <p:spPr>
          <a:xfrm>
            <a:off x="2933700" y="2844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Trần Văn Minh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87799A-059B-CE95-8BCC-3EA7FD3B82FB}"/>
              </a:ext>
            </a:extLst>
          </p:cNvPr>
          <p:cNvSpPr txBox="1"/>
          <p:nvPr/>
        </p:nvSpPr>
        <p:spPr>
          <a:xfrm>
            <a:off x="2933700" y="30734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91734B"/>
                </a:solidFill>
                <a:latin typeface="Calibri" panose="020F0502020204030204" pitchFamily="34" charset="0"/>
              </a:rPr>
              <a:t>Hà Nội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58D0E52-8378-4544-CEF7-BD13F75CE15E}"/>
              </a:ext>
            </a:extLst>
          </p:cNvPr>
          <p:cNvSpPr/>
          <p:nvPr/>
        </p:nvSpPr>
        <p:spPr>
          <a:xfrm>
            <a:off x="5105400" y="13970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D0E999-6A4D-BC0A-AF63-1BB0AF005AEB}"/>
              </a:ext>
            </a:extLst>
          </p:cNvPr>
          <p:cNvSpPr txBox="1"/>
          <p:nvPr/>
        </p:nvSpPr>
        <p:spPr>
          <a:xfrm>
            <a:off x="5232400" y="1498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7B2916-FB50-5B62-BA79-B18FC167DDD1}"/>
              </a:ext>
            </a:extLst>
          </p:cNvPr>
          <p:cNvSpPr txBox="1"/>
          <p:nvPr/>
        </p:nvSpPr>
        <p:spPr>
          <a:xfrm>
            <a:off x="5232400" y="1752600"/>
            <a:ext cx="19304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DBCA8"/>
                </a:solidFill>
                <a:latin typeface="Georgia" panose="02040502050405020303" pitchFamily="18" charset="0"/>
              </a:rPr>
              <a:t>"Bánh canh Trảng Bàng ngon nhất từng ăn! Lịch trình rất hợp lý, không vội vàng."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70D947-F063-B1D9-BB9E-B8AE04EDA559}"/>
              </a:ext>
            </a:extLst>
          </p:cNvPr>
          <p:cNvCxnSpPr/>
          <p:nvPr/>
        </p:nvCxnSpPr>
        <p:spPr>
          <a:xfrm>
            <a:off x="5232400" y="27940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518564-BC45-8CC3-E677-A871E7AD2B20}"/>
              </a:ext>
            </a:extLst>
          </p:cNvPr>
          <p:cNvSpPr txBox="1"/>
          <p:nvPr/>
        </p:nvSpPr>
        <p:spPr>
          <a:xfrm>
            <a:off x="5232400" y="2844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000" b="1">
                <a:solidFill>
                  <a:srgbClr val="FFFFFF"/>
                </a:solidFill>
                <a:latin typeface="Calibri" panose="020F0502020204030204" pitchFamily="34" charset="0"/>
              </a:rPr>
              <a:t>Lê Thị Hương Giang</a:t>
            </a:r>
            <a:endParaRPr lang="en-US" sz="1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9A5452-CEF6-E140-E334-8BF873A45FBD}"/>
              </a:ext>
            </a:extLst>
          </p:cNvPr>
          <p:cNvSpPr txBox="1"/>
          <p:nvPr/>
        </p:nvSpPr>
        <p:spPr>
          <a:xfrm>
            <a:off x="5232400" y="30734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91734B"/>
                </a:solidFill>
                <a:latin typeface="Calibri" panose="020F0502020204030204" pitchFamily="34" charset="0"/>
              </a:rPr>
              <a:t>Đà Nẵng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A273E6-D5F5-886A-B973-7C2DF05C53CA}"/>
              </a:ext>
            </a:extLst>
          </p:cNvPr>
          <p:cNvSpPr/>
          <p:nvPr/>
        </p:nvSpPr>
        <p:spPr>
          <a:xfrm>
            <a:off x="1612900" y="33782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BC725E-4235-57FA-F298-2C374D532305}"/>
              </a:ext>
            </a:extLst>
          </p:cNvPr>
          <p:cNvSpPr txBox="1"/>
          <p:nvPr/>
        </p:nvSpPr>
        <p:spPr>
          <a:xfrm>
            <a:off x="1739900" y="34798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2DCDC7-393B-CFE3-B0E6-7E664AABBE2B}"/>
              </a:ext>
            </a:extLst>
          </p:cNvPr>
          <p:cNvSpPr txBox="1"/>
          <p:nvPr/>
        </p:nvSpPr>
        <p:spPr>
          <a:xfrm>
            <a:off x="1739900" y="3733800"/>
            <a:ext cx="19304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CDBCA8"/>
                </a:solidFill>
              </a:rPr>
              <a:t>"Đã đi Tây Ninh nhiều lần nhưng đây là lần đầu tôi thực sự hiểu về vùng đất này."</a:t>
            </a:r>
            <a:endParaRPr lang="en-US" sz="900">
              <a:solidFill>
                <a:srgbClr val="CDBCA8"/>
              </a:solidFill>
              <a:latin typeface="Georgia" panose="02040502050405020303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D7E9852-F207-7713-5C7E-F65A9C4A5E1A}"/>
              </a:ext>
            </a:extLst>
          </p:cNvPr>
          <p:cNvCxnSpPr/>
          <p:nvPr/>
        </p:nvCxnSpPr>
        <p:spPr>
          <a:xfrm>
            <a:off x="1739900" y="47752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2F534AF-882B-8583-1A75-4C9A59DF810B}"/>
              </a:ext>
            </a:extLst>
          </p:cNvPr>
          <p:cNvSpPr txBox="1"/>
          <p:nvPr/>
        </p:nvSpPr>
        <p:spPr>
          <a:xfrm>
            <a:off x="1739900" y="48260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Phạm Quốc Huy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9991A-86A2-7B1B-692B-D7FFA35818A3}"/>
              </a:ext>
            </a:extLst>
          </p:cNvPr>
          <p:cNvSpPr txBox="1"/>
          <p:nvPr/>
        </p:nvSpPr>
        <p:spPr>
          <a:xfrm>
            <a:off x="1739900" y="50546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91734B"/>
                </a:solidFill>
                <a:latin typeface="Calibri" panose="020F0502020204030204" pitchFamily="34" charset="0"/>
              </a:rPr>
              <a:t>Bình Dương</a:t>
            </a:r>
            <a:endParaRPr lang="en-US" sz="900">
              <a:solidFill>
                <a:srgbClr val="91734B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C60FC6-9DED-EB93-C9BC-B7E6A39D57F4}"/>
              </a:ext>
            </a:extLst>
          </p:cNvPr>
          <p:cNvSpPr/>
          <p:nvPr/>
        </p:nvSpPr>
        <p:spPr>
          <a:xfrm>
            <a:off x="3911600" y="33782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23FC0A-009F-96AF-04DC-BDA22C1D0BB0}"/>
              </a:ext>
            </a:extLst>
          </p:cNvPr>
          <p:cNvSpPr txBox="1"/>
          <p:nvPr/>
        </p:nvSpPr>
        <p:spPr>
          <a:xfrm>
            <a:off x="4038600" y="34798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1A7A87-1B37-34F9-8B46-1BEE7B8DA7FC}"/>
              </a:ext>
            </a:extLst>
          </p:cNvPr>
          <p:cNvSpPr txBox="1"/>
          <p:nvPr/>
        </p:nvSpPr>
        <p:spPr>
          <a:xfrm>
            <a:off x="4038600" y="3733800"/>
            <a:ext cx="19304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DBCA8"/>
                </a:solidFill>
                <a:latin typeface="Georgia" panose="02040502050405020303" pitchFamily="18" charset="0"/>
              </a:rPr>
              <a:t>"Tour Trekking Núi Bà Đen hoàn toàn xứng đáng! Nhất định sẽ quay lại."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E836051-9500-343D-4BB4-33E38E8C93A4}"/>
              </a:ext>
            </a:extLst>
          </p:cNvPr>
          <p:cNvCxnSpPr/>
          <p:nvPr/>
        </p:nvCxnSpPr>
        <p:spPr>
          <a:xfrm>
            <a:off x="4038600" y="47752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2E83344-947A-6D53-E9A0-339D7D2E04DC}"/>
              </a:ext>
            </a:extLst>
          </p:cNvPr>
          <p:cNvSpPr txBox="1"/>
          <p:nvPr/>
        </p:nvSpPr>
        <p:spPr>
          <a:xfrm>
            <a:off x="4038600" y="48260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Võ Thị Thanh Mai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C86D37-6A87-549B-9292-1BD505258686}"/>
              </a:ext>
            </a:extLst>
          </p:cNvPr>
          <p:cNvSpPr txBox="1"/>
          <p:nvPr/>
        </p:nvSpPr>
        <p:spPr>
          <a:xfrm>
            <a:off x="4038600" y="50546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91734B"/>
                </a:solidFill>
                <a:latin typeface="Calibri" panose="020F0502020204030204" pitchFamily="34" charset="0"/>
              </a:rPr>
              <a:t>Cần Thơ</a:t>
            </a:r>
            <a:endParaRPr lang="en-US" sz="900">
              <a:solidFill>
                <a:srgbClr val="91734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13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9 - Boo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D5A8D-1D8C-4745-BDAA-FEABC70D18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FE04A0-2EAB-F7BF-A9EE-60024E4737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602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8B310-4A4B-1E7F-5F63-2F7634D22023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7C6C6-C6DD-4F48-635D-C4D48B204A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365A26-DA4F-3364-FBB8-976F37B91C57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9 /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A96849-AE9B-DB67-6B7B-715138C38153}"/>
              </a:ext>
            </a:extLst>
          </p:cNvPr>
          <p:cNvSpPr txBox="1"/>
          <p:nvPr/>
        </p:nvSpPr>
        <p:spPr>
          <a:xfrm>
            <a:off x="508000" y="4064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ĐẶT TOUR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14B8F-0D23-A9A4-C5CF-CAE8AE843271}"/>
              </a:ext>
            </a:extLst>
          </p:cNvPr>
          <p:cNvSpPr txBox="1"/>
          <p:nvPr/>
        </p:nvSpPr>
        <p:spPr>
          <a:xfrm>
            <a:off x="508000" y="635000"/>
            <a:ext cx="762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Chọn hành trình của bạn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B85F77-5C8A-2877-7E9F-1E55859F0670}"/>
              </a:ext>
            </a:extLst>
          </p:cNvPr>
          <p:cNvSpPr/>
          <p:nvPr/>
        </p:nvSpPr>
        <p:spPr>
          <a:xfrm>
            <a:off x="508000" y="13970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6D26F8-3D0A-0723-A503-2F89B3AE4216}"/>
              </a:ext>
            </a:extLst>
          </p:cNvPr>
          <p:cNvSpPr txBox="1"/>
          <p:nvPr/>
        </p:nvSpPr>
        <p:spPr>
          <a:xfrm>
            <a:off x="609600" y="14732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Bán Chạy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E7E51D-562A-B344-AD25-485EAA55DD0E}"/>
              </a:ext>
            </a:extLst>
          </p:cNvPr>
          <p:cNvSpPr txBox="1"/>
          <p:nvPr/>
        </p:nvSpPr>
        <p:spPr>
          <a:xfrm>
            <a:off x="609600" y="1701800"/>
            <a:ext cx="1549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Núi Bà Đen 1 Ngày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E2F79-E3D2-9FE9-080E-E68CF3077201}"/>
              </a:ext>
            </a:extLst>
          </p:cNvPr>
          <p:cNvSpPr txBox="1"/>
          <p:nvPr/>
        </p:nvSpPr>
        <p:spPr>
          <a:xfrm>
            <a:off x="609600" y="20066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00">
                <a:solidFill>
                  <a:srgbClr val="9B825F"/>
                </a:solidFill>
                <a:latin typeface="Calibri" panose="020F0502020204030204" pitchFamily="34" charset="0"/>
              </a:rPr>
              <a:t>1 ngày · ≤ 20 người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390D0-F98B-6BA8-6C29-722209CE6B75}"/>
              </a:ext>
            </a:extLst>
          </p:cNvPr>
          <p:cNvSpPr txBox="1"/>
          <p:nvPr/>
        </p:nvSpPr>
        <p:spPr>
          <a:xfrm>
            <a:off x="609600" y="22352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650.000đ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C471DC-A236-9DC1-0865-69B742B62761}"/>
              </a:ext>
            </a:extLst>
          </p:cNvPr>
          <p:cNvSpPr/>
          <p:nvPr/>
        </p:nvSpPr>
        <p:spPr>
          <a:xfrm>
            <a:off x="2387600" y="13970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1BD9AF-E84B-23F7-C6DC-7B3DFFA59CBC}"/>
              </a:ext>
            </a:extLst>
          </p:cNvPr>
          <p:cNvSpPr txBox="1"/>
          <p:nvPr/>
        </p:nvSpPr>
        <p:spPr>
          <a:xfrm>
            <a:off x="2489200" y="14732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Trọn Gói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8C7DDC-E14A-5662-3B2D-0135851462BF}"/>
              </a:ext>
            </a:extLst>
          </p:cNvPr>
          <p:cNvSpPr txBox="1"/>
          <p:nvPr/>
        </p:nvSpPr>
        <p:spPr>
          <a:xfrm>
            <a:off x="2489200" y="1701800"/>
            <a:ext cx="154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Tây Ninh 2N1Đ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9A52C4-3971-F9F1-364C-BA3E1032ABA8}"/>
              </a:ext>
            </a:extLst>
          </p:cNvPr>
          <p:cNvSpPr txBox="1"/>
          <p:nvPr/>
        </p:nvSpPr>
        <p:spPr>
          <a:xfrm>
            <a:off x="2489200" y="20066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B825F"/>
                </a:solidFill>
                <a:latin typeface="Calibri" panose="020F0502020204030204" pitchFamily="34" charset="0"/>
              </a:rPr>
              <a:t>2 ngày 1 đêm · ≤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74F8C-AE9C-5DD3-1B23-782D855EB035}"/>
              </a:ext>
            </a:extLst>
          </p:cNvPr>
          <p:cNvSpPr txBox="1"/>
          <p:nvPr/>
        </p:nvSpPr>
        <p:spPr>
          <a:xfrm>
            <a:off x="2489200" y="22352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1.200.000đ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D1AB25E-4978-BEB8-CA19-476239BDD0A0}"/>
              </a:ext>
            </a:extLst>
          </p:cNvPr>
          <p:cNvSpPr/>
          <p:nvPr/>
        </p:nvSpPr>
        <p:spPr>
          <a:xfrm>
            <a:off x="4267200" y="13970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FB7DE-1FC1-20EE-2933-C48900EEFD37}"/>
              </a:ext>
            </a:extLst>
          </p:cNvPr>
          <p:cNvSpPr txBox="1"/>
          <p:nvPr/>
        </p:nvSpPr>
        <p:spPr>
          <a:xfrm>
            <a:off x="4368800" y="14732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Trekking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DA4D11-5B13-231E-2227-3E274E8C7724}"/>
              </a:ext>
            </a:extLst>
          </p:cNvPr>
          <p:cNvSpPr txBox="1"/>
          <p:nvPr/>
        </p:nvSpPr>
        <p:spPr>
          <a:xfrm>
            <a:off x="4368800" y="1701800"/>
            <a:ext cx="154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200" b="1">
                <a:solidFill>
                  <a:srgbClr val="FFFFFF"/>
                </a:solidFill>
              </a:rPr>
              <a:t>Vườn Quốc Gia</a:t>
            </a:r>
            <a:endParaRPr lang="en-US" sz="1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ECD1DC-8026-F89B-C46E-3ACCE85DABB2}"/>
              </a:ext>
            </a:extLst>
          </p:cNvPr>
          <p:cNvSpPr txBox="1"/>
          <p:nvPr/>
        </p:nvSpPr>
        <p:spPr>
          <a:xfrm>
            <a:off x="4368800" y="20066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00">
                <a:solidFill>
                  <a:srgbClr val="9B825F"/>
                </a:solidFill>
                <a:latin typeface="Calibri" panose="020F0502020204030204" pitchFamily="34" charset="0"/>
              </a:rPr>
              <a:t>1 ngày · ≤ 12 người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E1F634-6FC0-4CDA-1AE9-1E7D4921A2BE}"/>
              </a:ext>
            </a:extLst>
          </p:cNvPr>
          <p:cNvSpPr txBox="1"/>
          <p:nvPr/>
        </p:nvSpPr>
        <p:spPr>
          <a:xfrm>
            <a:off x="4368800" y="22352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750.000đ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F251467-1420-65DF-9D66-B42317BF968D}"/>
              </a:ext>
            </a:extLst>
          </p:cNvPr>
          <p:cNvSpPr/>
          <p:nvPr/>
        </p:nvSpPr>
        <p:spPr>
          <a:xfrm>
            <a:off x="508000" y="26162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C093BC-B5C5-5C16-F1EA-A48192FEDF0A}"/>
              </a:ext>
            </a:extLst>
          </p:cNvPr>
          <p:cNvSpPr txBox="1"/>
          <p:nvPr/>
        </p:nvSpPr>
        <p:spPr>
          <a:xfrm>
            <a:off x="609600" y="26924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Văn Hóa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55FE27-B3AF-37A7-2776-3B3008B9F8D5}"/>
              </a:ext>
            </a:extLst>
          </p:cNvPr>
          <p:cNvSpPr txBox="1"/>
          <p:nvPr/>
        </p:nvSpPr>
        <p:spPr>
          <a:xfrm>
            <a:off x="609600" y="2921000"/>
            <a:ext cx="1549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Tòa Thánh Cao Đài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B5ECC-D031-7AA1-C200-24B78852B6CA}"/>
              </a:ext>
            </a:extLst>
          </p:cNvPr>
          <p:cNvSpPr txBox="1"/>
          <p:nvPr/>
        </p:nvSpPr>
        <p:spPr>
          <a:xfrm>
            <a:off x="609600" y="32258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B825F"/>
                </a:solidFill>
                <a:latin typeface="Calibri" panose="020F0502020204030204" pitchFamily="34" charset="0"/>
              </a:rPr>
              <a:t>Nửa ngày · ≤ 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5C9D8D-D5DF-247C-C249-0F5410D34559}"/>
              </a:ext>
            </a:extLst>
          </p:cNvPr>
          <p:cNvSpPr txBox="1"/>
          <p:nvPr/>
        </p:nvSpPr>
        <p:spPr>
          <a:xfrm>
            <a:off x="609600" y="34544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450.000đ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F715F06-DC9D-802F-5432-5719FC0A37BE}"/>
              </a:ext>
            </a:extLst>
          </p:cNvPr>
          <p:cNvSpPr/>
          <p:nvPr/>
        </p:nvSpPr>
        <p:spPr>
          <a:xfrm>
            <a:off x="2387600" y="26162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41E0CC-3C55-DF96-0E15-431A399E795E}"/>
              </a:ext>
            </a:extLst>
          </p:cNvPr>
          <p:cNvSpPr txBox="1"/>
          <p:nvPr/>
        </p:nvSpPr>
        <p:spPr>
          <a:xfrm>
            <a:off x="2489200" y="26924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Ẩm Thực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B3093F-1EAC-DFB4-5E5A-9B39D127185E}"/>
              </a:ext>
            </a:extLst>
          </p:cNvPr>
          <p:cNvSpPr txBox="1"/>
          <p:nvPr/>
        </p:nvSpPr>
        <p:spPr>
          <a:xfrm>
            <a:off x="2489200" y="2921000"/>
            <a:ext cx="154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Food &amp; Culture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F5AF58-17E7-377B-010A-C89196D32E67}"/>
              </a:ext>
            </a:extLst>
          </p:cNvPr>
          <p:cNvSpPr txBox="1"/>
          <p:nvPr/>
        </p:nvSpPr>
        <p:spPr>
          <a:xfrm>
            <a:off x="2489200" y="32258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B825F"/>
                </a:solidFill>
                <a:latin typeface="Calibri" panose="020F0502020204030204" pitchFamily="34" charset="0"/>
              </a:rPr>
              <a:t>Nửa ngày · ≤ 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6A6FDD-A44F-D3F4-E61A-C3389ECB4FD6}"/>
              </a:ext>
            </a:extLst>
          </p:cNvPr>
          <p:cNvSpPr txBox="1"/>
          <p:nvPr/>
        </p:nvSpPr>
        <p:spPr>
          <a:xfrm>
            <a:off x="2489200" y="34544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550.000đ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96C062C-D199-1D81-F699-155D4398F91E}"/>
              </a:ext>
            </a:extLst>
          </p:cNvPr>
          <p:cNvSpPr/>
          <p:nvPr/>
        </p:nvSpPr>
        <p:spPr>
          <a:xfrm>
            <a:off x="4267200" y="26162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153A21-5B97-7E04-1554-02C831499343}"/>
              </a:ext>
            </a:extLst>
          </p:cNvPr>
          <p:cNvSpPr txBox="1"/>
          <p:nvPr/>
        </p:nvSpPr>
        <p:spPr>
          <a:xfrm>
            <a:off x="4368800" y="26924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Photo Tour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0FFA93-B1E2-3099-9F95-E07F1F32892D}"/>
              </a:ext>
            </a:extLst>
          </p:cNvPr>
          <p:cNvSpPr txBox="1"/>
          <p:nvPr/>
        </p:nvSpPr>
        <p:spPr>
          <a:xfrm>
            <a:off x="4368800" y="2921000"/>
            <a:ext cx="154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Săn Bình Minh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523627-54C4-EEFF-17BA-59484395C735}"/>
              </a:ext>
            </a:extLst>
          </p:cNvPr>
          <p:cNvSpPr txBox="1"/>
          <p:nvPr/>
        </p:nvSpPr>
        <p:spPr>
          <a:xfrm>
            <a:off x="4368800" y="32258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00">
                <a:solidFill>
                  <a:srgbClr val="9B825F"/>
                </a:solidFill>
                <a:latin typeface="Calibri" panose="020F0502020204030204" pitchFamily="34" charset="0"/>
              </a:rPr>
              <a:t>1 ngày · ≤ 8 người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A7F43B-7453-9F2E-BB39-9E1CC62DDFDC}"/>
              </a:ext>
            </a:extLst>
          </p:cNvPr>
          <p:cNvSpPr txBox="1"/>
          <p:nvPr/>
        </p:nvSpPr>
        <p:spPr>
          <a:xfrm>
            <a:off x="4368800" y="34544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800.000đ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37E1193-8A77-FA48-27BA-DB7767AC94C6}"/>
              </a:ext>
            </a:extLst>
          </p:cNvPr>
          <p:cNvSpPr/>
          <p:nvPr/>
        </p:nvSpPr>
        <p:spPr>
          <a:xfrm>
            <a:off x="6197600" y="1397000"/>
            <a:ext cx="5588000" cy="1117600"/>
          </a:xfrm>
          <a:prstGeom prst="round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📞  </a:t>
            </a:r>
            <a:r>
              <a:rPr lang="vi-VN" sz="1300" b="1">
                <a:solidFill>
                  <a:srgbClr val="FFFFFF"/>
                </a:solidFill>
              </a:rPr>
              <a:t>Gọi Ngay: (+84) 0886 131 139
</a:t>
            </a:r>
            <a:r>
              <a:rPr lang="en-US" sz="1300" b="1">
                <a:solidFill>
                  <a:srgbClr val="FFFFFF"/>
                </a:solidFill>
              </a:rPr>
              <a:t>✅  </a:t>
            </a:r>
            <a:r>
              <a:rPr lang="vi-VN" sz="1300" b="1">
                <a:solidFill>
                  <a:srgbClr val="FFFFFF"/>
                </a:solidFill>
              </a:rPr>
              <a:t>Tư vấn miễn phí — Xác nhận trong 2 giờ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ECB7E5B-C0FC-0D7A-F793-042C07577EA8}"/>
              </a:ext>
            </a:extLst>
          </p:cNvPr>
          <p:cNvSpPr/>
          <p:nvPr/>
        </p:nvSpPr>
        <p:spPr>
          <a:xfrm>
            <a:off x="6197600" y="2667000"/>
            <a:ext cx="5588000" cy="1117600"/>
          </a:xfrm>
          <a:prstGeom prst="roundRect">
            <a:avLst/>
          </a:prstGeom>
          <a:solidFill>
            <a:srgbClr val="006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💬  Zalo: 0886 131 139
✅  Phản hồi ngay qua chat Zalo</a:t>
            </a:r>
          </a:p>
        </p:txBody>
      </p:sp>
    </p:spTree>
    <p:extLst>
      <p:ext uri="{BB962C8B-B14F-4D97-AF65-F5344CB8AC3E}">
        <p14:creationId xmlns:p14="http://schemas.microsoft.com/office/powerpoint/2010/main" val="330341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0 -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3799A4B-067B-72E0-565E-E7259788DF01}"/>
              </a:ext>
            </a:extLst>
          </p:cNvPr>
          <p:cNvSpPr/>
          <p:nvPr/>
        </p:nvSpPr>
        <p:spPr>
          <a:xfrm>
            <a:off x="-2540000" y="-2540000"/>
            <a:ext cx="7874000" cy="7874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629ED6-CBAD-9392-CE70-54143DF2CD67}"/>
              </a:ext>
            </a:extLst>
          </p:cNvPr>
          <p:cNvSpPr/>
          <p:nvPr/>
        </p:nvSpPr>
        <p:spPr>
          <a:xfrm>
            <a:off x="6858000" y="2286000"/>
            <a:ext cx="6604000" cy="6604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F21E1-3629-554E-B87B-88AE21DF78FA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DC8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CDC60-ACFE-462A-B1DD-0010CAF2CD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0" y="254000"/>
            <a:ext cx="25400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9653D5-80D5-FE2D-1136-4480F50E1821}"/>
              </a:ext>
            </a:extLst>
          </p:cNvPr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FFEBBE"/>
                </a:solidFill>
                <a:latin typeface="Calibri" panose="020F0502020204030204" pitchFamily="34" charset="0"/>
              </a:rPr>
              <a:t>10 /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BA7B8-B863-55B8-6682-FC4BB50CA1DB}"/>
              </a:ext>
            </a:extLst>
          </p:cNvPr>
          <p:cNvSpPr txBox="1"/>
          <p:nvPr/>
        </p:nvSpPr>
        <p:spPr>
          <a:xfrm>
            <a:off x="508000" y="9906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Georgia" panose="02040502050405020303" pitchFamily="18" charset="0"/>
              </a:rPr>
              <a:t>Sẵn sàng đồng hành cùng bạn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D8CDD-9A3C-D465-F433-51ECC985A2CE}"/>
              </a:ext>
            </a:extLst>
          </p:cNvPr>
          <p:cNvSpPr txBox="1"/>
          <p:nvPr/>
        </p:nvSpPr>
        <p:spPr>
          <a:xfrm>
            <a:off x="508000" y="17018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vi-VN" sz="1300">
                <a:solidFill>
                  <a:srgbClr val="FFEBC3"/>
                </a:solidFill>
                <a:latin typeface="Calibri" panose="020F0502020204030204" pitchFamily="34" charset="0"/>
              </a:rPr>
              <a:t>Liên hệ ngay hôm nay — tư vấn miễn phí, xác nhận trong 2 giờ làm việc.</a:t>
            </a:r>
            <a:endParaRPr lang="en-US" sz="1300">
              <a:solidFill>
                <a:srgbClr val="FFEBC3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42721E-CB02-F227-F803-2C16463B613C}"/>
              </a:ext>
            </a:extLst>
          </p:cNvPr>
          <p:cNvCxnSpPr/>
          <p:nvPr/>
        </p:nvCxnSpPr>
        <p:spPr>
          <a:xfrm>
            <a:off x="4318000" y="2108200"/>
            <a:ext cx="3556000" cy="0"/>
          </a:xfrm>
          <a:prstGeom prst="line">
            <a:avLst/>
          </a:prstGeom>
          <a:ln w="12700">
            <a:solidFill>
              <a:srgbClr val="FFDC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E17C14-68A3-FC76-17EC-D1990C15EDDC}"/>
              </a:ext>
            </a:extLst>
          </p:cNvPr>
          <p:cNvSpPr/>
          <p:nvPr/>
        </p:nvSpPr>
        <p:spPr>
          <a:xfrm>
            <a:off x="1016000" y="2336800"/>
            <a:ext cx="2540000" cy="19304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 cap="flat" cmpd="sng" algn="ctr">
            <a:solidFill>
              <a:srgbClr val="FFD78C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E8406-9E69-A121-46E7-ED21F59DB38C}"/>
              </a:ext>
            </a:extLst>
          </p:cNvPr>
          <p:cNvSpPr txBox="1"/>
          <p:nvPr/>
        </p:nvSpPr>
        <p:spPr>
          <a:xfrm>
            <a:off x="2057400" y="2489200"/>
            <a:ext cx="457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📞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E16A9-6539-3EC9-F493-98D7D6B74510}"/>
              </a:ext>
            </a:extLst>
          </p:cNvPr>
          <p:cNvSpPr txBox="1"/>
          <p:nvPr/>
        </p:nvSpPr>
        <p:spPr>
          <a:xfrm>
            <a:off x="1117600" y="3022600"/>
            <a:ext cx="2336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FE1AA"/>
                </a:solidFill>
                <a:latin typeface="Calibri" panose="020F0502020204030204" pitchFamily="34" charset="0"/>
              </a:rPr>
              <a:t>HOTLINE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F95682-7974-1365-A0CE-E1C022B5582E}"/>
              </a:ext>
            </a:extLst>
          </p:cNvPr>
          <p:cNvSpPr txBox="1"/>
          <p:nvPr/>
        </p:nvSpPr>
        <p:spPr>
          <a:xfrm>
            <a:off x="1117600" y="3251200"/>
            <a:ext cx="2336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(+84) 0886 131 139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453380-E32A-F178-698E-BEE7583DB3B3}"/>
              </a:ext>
            </a:extLst>
          </p:cNvPr>
          <p:cNvSpPr/>
          <p:nvPr/>
        </p:nvSpPr>
        <p:spPr>
          <a:xfrm>
            <a:off x="3784600" y="2336800"/>
            <a:ext cx="2540000" cy="19304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 cap="flat" cmpd="sng" algn="ctr">
            <a:solidFill>
              <a:srgbClr val="FFD78C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9DC3E-40BA-4116-0D29-BCD1A32F6BBD}"/>
              </a:ext>
            </a:extLst>
          </p:cNvPr>
          <p:cNvSpPr txBox="1"/>
          <p:nvPr/>
        </p:nvSpPr>
        <p:spPr>
          <a:xfrm>
            <a:off x="4826000" y="2489200"/>
            <a:ext cx="457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B0F39-0D04-79D2-A58D-3F4201F8E477}"/>
              </a:ext>
            </a:extLst>
          </p:cNvPr>
          <p:cNvSpPr txBox="1"/>
          <p:nvPr/>
        </p:nvSpPr>
        <p:spPr>
          <a:xfrm>
            <a:off x="3886200" y="3022600"/>
            <a:ext cx="2336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FE1AA"/>
                </a:solidFill>
                <a:latin typeface="Calibri" panose="020F0502020204030204" pitchFamily="34" charset="0"/>
              </a:rPr>
              <a:t>ZALO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440809-8EFE-82BA-BAF3-2CC12D6DA23B}"/>
              </a:ext>
            </a:extLst>
          </p:cNvPr>
          <p:cNvSpPr txBox="1"/>
          <p:nvPr/>
        </p:nvSpPr>
        <p:spPr>
          <a:xfrm>
            <a:off x="3886200" y="3251200"/>
            <a:ext cx="2336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0886 131 139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4C5362-C22B-CC35-CACC-A25CCC7E7A08}"/>
              </a:ext>
            </a:extLst>
          </p:cNvPr>
          <p:cNvSpPr/>
          <p:nvPr/>
        </p:nvSpPr>
        <p:spPr>
          <a:xfrm>
            <a:off x="6553200" y="2336800"/>
            <a:ext cx="2540000" cy="19304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 cap="flat" cmpd="sng" algn="ctr">
            <a:solidFill>
              <a:srgbClr val="FFD78C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600F3C-683F-E3EF-D1E3-0BB8F413496E}"/>
              </a:ext>
            </a:extLst>
          </p:cNvPr>
          <p:cNvSpPr txBox="1"/>
          <p:nvPr/>
        </p:nvSpPr>
        <p:spPr>
          <a:xfrm>
            <a:off x="7594600" y="2489200"/>
            <a:ext cx="457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📧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BDD56C-E0F9-4139-DE35-D575FDC54F3D}"/>
              </a:ext>
            </a:extLst>
          </p:cNvPr>
          <p:cNvSpPr txBox="1"/>
          <p:nvPr/>
        </p:nvSpPr>
        <p:spPr>
          <a:xfrm>
            <a:off x="6654800" y="3022600"/>
            <a:ext cx="2336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FE1AA"/>
                </a:solidFill>
                <a:latin typeface="Calibri" panose="020F0502020204030204" pitchFamily="34" charset="0"/>
              </a:rPr>
              <a:t>EMAIL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90D08A-738B-C8C5-EB5B-2F0B67BBE58A}"/>
              </a:ext>
            </a:extLst>
          </p:cNvPr>
          <p:cNvSpPr txBox="1"/>
          <p:nvPr/>
        </p:nvSpPr>
        <p:spPr>
          <a:xfrm>
            <a:off x="6654800" y="3251200"/>
            <a:ext cx="2336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info@vholidaytour.com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BF92DA2-4EF3-D85E-DD10-18619E924CB6}"/>
              </a:ext>
            </a:extLst>
          </p:cNvPr>
          <p:cNvSpPr/>
          <p:nvPr/>
        </p:nvSpPr>
        <p:spPr>
          <a:xfrm>
            <a:off x="9321800" y="2336800"/>
            <a:ext cx="2540000" cy="19304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 cap="flat" cmpd="sng" algn="ctr">
            <a:solidFill>
              <a:srgbClr val="FFD78C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426DD9-47EF-C544-55F1-E9C8B16720A1}"/>
              </a:ext>
            </a:extLst>
          </p:cNvPr>
          <p:cNvSpPr txBox="1"/>
          <p:nvPr/>
        </p:nvSpPr>
        <p:spPr>
          <a:xfrm>
            <a:off x="10363200" y="2489200"/>
            <a:ext cx="457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17FB59-5A91-9F4D-57E7-7161D27FE167}"/>
              </a:ext>
            </a:extLst>
          </p:cNvPr>
          <p:cNvSpPr txBox="1"/>
          <p:nvPr/>
        </p:nvSpPr>
        <p:spPr>
          <a:xfrm>
            <a:off x="9423400" y="3022600"/>
            <a:ext cx="2336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FE1AA"/>
                </a:solidFill>
                <a:latin typeface="Calibri" panose="020F0502020204030204" pitchFamily="34" charset="0"/>
              </a:rPr>
              <a:t>GIỜ LÀM VIỆC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9D3306-6A93-B26B-3DA2-12D668298E50}"/>
              </a:ext>
            </a:extLst>
          </p:cNvPr>
          <p:cNvSpPr txBox="1"/>
          <p:nvPr/>
        </p:nvSpPr>
        <p:spPr>
          <a:xfrm>
            <a:off x="9423400" y="3251200"/>
            <a:ext cx="2336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7:00 — 21:00 hàng ngày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3DE426-3F64-5AD7-CACE-99E63DE0D263}"/>
              </a:ext>
            </a:extLst>
          </p:cNvPr>
          <p:cNvCxnSpPr/>
          <p:nvPr/>
        </p:nvCxnSpPr>
        <p:spPr>
          <a:xfrm>
            <a:off x="4064000" y="4635500"/>
            <a:ext cx="4064000" cy="0"/>
          </a:xfrm>
          <a:prstGeom prst="line">
            <a:avLst/>
          </a:prstGeom>
          <a:ln w="12700">
            <a:solidFill>
              <a:srgbClr val="FFDC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5F73FA-8C74-2EF5-1826-7A09403886BB}"/>
              </a:ext>
            </a:extLst>
          </p:cNvPr>
          <p:cNvSpPr txBox="1"/>
          <p:nvPr/>
        </p:nvSpPr>
        <p:spPr>
          <a:xfrm>
            <a:off x="508000" y="47498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FFE6AF"/>
                </a:solidFill>
                <a:latin typeface="Calibri" panose="020F0502020204030204" pitchFamily="34" charset="0"/>
              </a:rPr>
              <a:t>Nâng tầm giá trị cuộc sống qua từng hành trình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DBA476-7857-28DE-2F92-D311AE023A1A}"/>
              </a:ext>
            </a:extLst>
          </p:cNvPr>
          <p:cNvSpPr txBox="1"/>
          <p:nvPr/>
        </p:nvSpPr>
        <p:spPr>
          <a:xfrm>
            <a:off x="508000" y="5080000"/>
            <a:ext cx="1117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FFD28C"/>
                </a:solidFill>
                <a:latin typeface="Calibri" panose="020F0502020204030204" pitchFamily="34" charset="0"/>
              </a:rPr>
              <a:t>© 2026 V Holiday Tour · vholidaytour.com</a:t>
            </a:r>
          </a:p>
        </p:txBody>
      </p:sp>
    </p:spTree>
    <p:extLst>
      <p:ext uri="{BB962C8B-B14F-4D97-AF65-F5344CB8AC3E}">
        <p14:creationId xmlns:p14="http://schemas.microsoft.com/office/powerpoint/2010/main" val="28654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</Words>
  <Application>Microsoft Office PowerPoint</Application>
  <PresentationFormat>Custom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Mr.Tuan - Landtour Cam-Lao-Thai</dc:creator>
  <cp:lastModifiedBy>Mr.Tuan - Landtour Cam-Lao-Thai</cp:lastModifiedBy>
  <cp:revision>1</cp:revision>
  <dcterms:created xsi:type="dcterms:W3CDTF">2026-06-26T13:19:14Z</dcterms:created>
  <dcterms:modified xsi:type="dcterms:W3CDTF">2026-06-26T13:19:14Z</dcterms:modified>
</cp:coreProperties>
</file>